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e7988ed5f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e7988ed5f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e7988ed5f_0_1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de7988ed5f_0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e7988ed5f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e7988ed5f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e7988ed5f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e7988ed5f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e7988ed5f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e7988ed5f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e7988ed5f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e7988ed5f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e7988ed5f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e7988ed5f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e7ba29b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e7ba29b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e7988ed5f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e7988ed5f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e7ba29b7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e7ba29b7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7A7A7A"/>
            </a:gs>
            <a:gs pos="100000">
              <a:srgbClr val="39393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windhorst114.asu.edu/galmorph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Announcements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/>
              <a:t>All assignments need to be turned in by Monday, April 27th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Unless it is a lab you are making up on Tuesday 28th and/or Wednesday 29th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As a reminder - the </a:t>
            </a:r>
            <a:r>
              <a:rPr lang="en"/>
              <a:t>makeup</a:t>
            </a:r>
            <a:r>
              <a:rPr lang="en"/>
              <a:t> labs are for ones you missed and </a:t>
            </a:r>
            <a:r>
              <a:rPr b="1" i="1" lang="en" u="sng"/>
              <a:t>you must inform me in advance</a:t>
            </a:r>
            <a:endParaRPr b="1" i="1" u="sn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0" l="12444" r="30657" t="0"/>
          <a:stretch/>
        </p:blipFill>
        <p:spPr>
          <a:xfrm>
            <a:off x="15" y="962"/>
            <a:ext cx="9143987" cy="514253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0" y="3990107"/>
            <a:ext cx="9144000" cy="552300"/>
          </a:xfrm>
          <a:prstGeom prst="rect">
            <a:avLst/>
          </a:prstGeom>
          <a:solidFill>
            <a:schemeClr val="lt1">
              <a:alpha val="9294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92906" y="3987930"/>
            <a:ext cx="8408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700"/>
              <a:buFont typeface="Calibri"/>
              <a:buNone/>
            </a:pPr>
            <a:r>
              <a:rPr b="1" i="0" lang="en" sz="27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Galaxy Morphology</a:t>
            </a:r>
            <a:endParaRPr b="1" i="0" sz="27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14"/>
          <p:cNvCxnSpPr/>
          <p:nvPr/>
        </p:nvCxnSpPr>
        <p:spPr>
          <a:xfrm>
            <a:off x="0" y="3931487"/>
            <a:ext cx="9144000" cy="0"/>
          </a:xfrm>
          <a:prstGeom prst="straightConnector1">
            <a:avLst/>
          </a:prstGeom>
          <a:noFill/>
          <a:ln cap="flat" cmpd="sng" w="30950">
            <a:solidFill>
              <a:schemeClr val="lt1">
                <a:alpha val="898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" name="Google Shape;64;p14"/>
          <p:cNvCxnSpPr/>
          <p:nvPr/>
        </p:nvCxnSpPr>
        <p:spPr>
          <a:xfrm>
            <a:off x="0" y="4601139"/>
            <a:ext cx="9144000" cy="0"/>
          </a:xfrm>
          <a:prstGeom prst="straightConnector1">
            <a:avLst/>
          </a:prstGeom>
          <a:noFill/>
          <a:ln cap="flat" cmpd="sng" w="30950">
            <a:solidFill>
              <a:schemeClr val="lt1">
                <a:alpha val="898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Galaxies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4572000" cy="37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gravitationally bound collection of stars, planets, gas, dust, and dark matter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Millions, billions, or even trillions of stars</a:t>
            </a:r>
            <a:endParaRPr/>
          </a:p>
          <a:p>
            <a:pPr indent="0" lvl="0" marL="2286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 The Milk</a:t>
            </a:r>
            <a:r>
              <a:rPr lang="en"/>
              <a:t>y Way →</a:t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7141" l="5974" r="8431" t="0"/>
          <a:stretch/>
        </p:blipFill>
        <p:spPr>
          <a:xfrm>
            <a:off x="4846274" y="0"/>
            <a:ext cx="4297726" cy="515847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Edwin Hubble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4756500" cy="3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1919, Edwin Hubble used the Cepheid Period-Luminosity Relationship (3 labs ago) to prove the universe was vastly bigger than just the Milky Way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that many of the we observed nebulae were actually distant galaxies - of which the Milky Way was just 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1926, he created the classification scheme still largely used today (today’s lab)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1929, he proved that galaxies are moving away from us - (next week’s lab)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8315" y="-125"/>
            <a:ext cx="4075689" cy="5143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Three Types of Galaxies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0"/>
            <a:ext cx="9144000" cy="645571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Elliptical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Old, with old, small stars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Mostly made up of globular clusters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Very little (if any) new star 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they form is still an area of active research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Likely either formed from very rapid star formation, long ago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Or formed from the mergers of other galaxies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Or maybe both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888975"/>
            <a:ext cx="9144000" cy="78638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Spiral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4260300" cy="3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/>
              <a:t>stereotypical</a:t>
            </a:r>
            <a:r>
              <a:rPr lang="en"/>
              <a:t> galaxy - like the Milky Way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central “bulge” surrounded by spiralling arms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arms are where there is active star 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lang="en"/>
              <a:t>spherical</a:t>
            </a:r>
            <a:r>
              <a:rPr lang="en"/>
              <a:t> “halo” of dark matter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May be a “barred spiral” - like the Milky Way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Or just have the arms come right out of the middle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upload.wikimedia.org/wikipedia/commons/thumb/b/b7/Irregular_galaxy_NGC_1427A_%28captured_by_the_Hubble_Space_Telescope%29.jpg/800px-Irregular_galaxy_NGC_1427A_%28captured_by_the_Hubble_Space_Telescope%29.jpg" id="102" name="Google Shape;102;p20"/>
          <p:cNvPicPr preferRelativeResize="0"/>
          <p:nvPr>
            <p:ph idx="4294967295" type="body"/>
          </p:nvPr>
        </p:nvPicPr>
        <p:blipFill rotWithShape="1">
          <a:blip r:embed="rId3">
            <a:alphaModFix amt="75000"/>
          </a:blip>
          <a:srcRect b="0" l="0" r="0" t="0"/>
          <a:stretch/>
        </p:blipFill>
        <p:spPr>
          <a:xfrm>
            <a:off x="4339199" y="-273900"/>
            <a:ext cx="4804800" cy="541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 rotWithShape="1">
          <a:blip r:embed="rId4">
            <a:alphaModFix amt="75000"/>
          </a:blip>
          <a:srcRect b="0" l="0" r="32070" t="0"/>
          <a:stretch/>
        </p:blipFill>
        <p:spPr>
          <a:xfrm>
            <a:off x="-6" y="0"/>
            <a:ext cx="433933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Irregular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Don’t really have a set shape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Formed by other galaxies colliding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Eventually, they will likely reform into elliptical galaxies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Usually (but not always) small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Classification Scheme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4260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Elliptical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 from E0 (a sphere) to E7 (oblong)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Spiral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Split into 2 subtypes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S, which is the spiral arms coming out of the galaxy’s core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SB, which has a “bar” through the middle of the galaxy which the arms come off of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are broken down into a, b, and c, which have to do with the size of the galactic core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Irregular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Neither Elliptical or Spiral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Probably started as one of the others, but was disrupted by interactions with other galaxies</a:t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264338"/>
            <a:ext cx="4572000" cy="37671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Very simple lab - look at pictures, then classify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 to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http://windhorst114.asu.edu/galmorph.html</a:t>
            </a:r>
            <a:r>
              <a:rPr lang="en"/>
              <a:t> (link on Canvas page)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Work down the list, classifying each galaxy as you 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 sure to justify each answer - accuracy is important, but I will be more </a:t>
            </a:r>
            <a:r>
              <a:rPr lang="en"/>
              <a:t>concerned</a:t>
            </a:r>
            <a:r>
              <a:rPr lang="en"/>
              <a:t> with the justifications when grading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Look at shape, but color can sometimes be helpful too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Redder galaxies are older, and so have less star formation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Bluer are younger, and have more active star 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Answer questions 1-7 after classifying the galaxies and make sure to do the conclusion/summary on the bottom of page 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