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3bdab4a4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3bdab4a4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313c1af8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313c1af8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313c1af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313c1af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313c1af8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313c1af8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313c1af8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313c1af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313c1af8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313c1af8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3bdab4a4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3bdab4a4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313c1af8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313c1af8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313c1af8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313c1af8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313c1af8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313c1af8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313c1af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313c1af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FF87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00FF87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youtube.com/watch?v=Tf_UjBMIzNo" TargetMode="External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reminders to let me know if you have any questions about your grade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not to use AI to complete your labs</a:t>
            </a:r>
            <a:endParaRPr/>
          </a:p>
        </p:txBody>
      </p:sp>
      <p:pic>
        <p:nvPicPr>
          <p:cNvPr descr="We're sending astronauts around the Moon for the first time in 50 years. Come watch with us.&#10;&#10;NASA's Artemis II mission is scheduled to lift off from Kennedy Space Center on April 1. The two-hour launch window starts at 6:24 p.m. EDT (2224 UTC). &#10;&#10;Four astronauts — three from NASA and one from the CSA (Canadian Space Agency) — make up the Artemis II crew:&#10;- NASA astronaut Reid Wiseman, Artemis II commander&#10;- NASA astronaut Victor Glover, Artemis II pilot&#10;- NASA astronaut Christina Koch, Artemis II mission specialist&#10;- Canadian Space Agency (CSA) astronaut Jeremy Hansen, Artemis II mission specialist&#10;&#10;After launching into space atop NASA's Space Launch System (SLS) rocket, the crew will journey around the Moon and back in their Orion spacecraft, named Integrity, on an approximately 10-day mission. Artemis II will be the first crewed flight test of SLS and Orion, testing the technologies we'll need for long-term lunar exploration and human missions to Mars.&#10;&#10;24/7 streaming coverage of Artemis II operations and mission updates will be available on our YouTube channel. We're also streaming Artemis II events on NASA+, Amazon, X, Facebook, and Twitch. See the full schedule: https://www.nasa.gov/missions/artemis/artemis-2/nasa-sets-coverage-for-artemis-ii-moon-mission/&#10;&#10;Read the latest Artemis II mission updates: https://www.nasa.gov/blogs/artemis/&#10;&#10;Learn more about the mission and why we're going: https://www.nasa.gov/mission/artemis-ii/&#10;&#10;Credit: NASA&#10;&#10;#NASA #Artemis #Space" id="56" name="Google Shape;56;p13" title="NASA's Artemis II Crew Launches To The Moon (Official Broadcast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750" y="1922325"/>
            <a:ext cx="5726500" cy="322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HR Diagrams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2872650" y="2797175"/>
            <a:ext cx="3398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Star, Two Star, Red Star, Blue Star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11700" y="2152800"/>
            <a:ext cx="8520600" cy="8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First, Some Physical Laws</a:t>
            </a: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87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Wien’s Law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that the constant on the right is given in units of nanometers (in this case)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temperature is in Kelvin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Relates the peak wavelength (λ) of emitted light to the temperature (T) of an the object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Peak wavelength means the wavelength that more of the light is at than any other wavelength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900" y="1253750"/>
            <a:ext cx="1612031" cy="269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8938" y="2928550"/>
            <a:ext cx="3926124" cy="221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Inverse Square Law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4𝝅r² on the bottom is the surface area of a sphere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Because light (or sound) spreads out in every direction - which means it spreads </a:t>
            </a:r>
            <a:r>
              <a:rPr lang="en"/>
              <a:t>spherically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bigger the sphere (the bigger the radius - how far you are from the source) the more spread out the light is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So, as you get further away, the light intensity decreases by the square of that radius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2 times further away, 2²=4 times less light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3 times further away, 3²=9 times less light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5 times further away, 5²=25 times less light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etc.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75" y="1152475"/>
            <a:ext cx="1540350" cy="415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750" y="3018677"/>
            <a:ext cx="3503250" cy="2124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Stefan-Boltzmann Law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                 Or (in terms of luminosity)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Where: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Relates the total energy (light - including heat) emitted to the temperature of the object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" y="1263400"/>
            <a:ext cx="1160247" cy="269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5400" y="1263400"/>
            <a:ext cx="2882867" cy="269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3625" y="1533225"/>
            <a:ext cx="2362200" cy="2571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86475" y="2125475"/>
            <a:ext cx="4171050" cy="3018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These Mean Together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Together these allow us to determine many characteristics of a star based on what we can see - how bright it is and what color it 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see the color → Wien’s Law gives us surface temperature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see the magnitude (brightness) and </a:t>
            </a:r>
            <a:r>
              <a:rPr lang="en"/>
              <a:t>calculate the distance → Inverse Square Law gives us the Luminosity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Now we know temperature and luminosity → Stefan-Boltzmann Law gives us the star’s radius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ctrTitle"/>
          </p:nvPr>
        </p:nvSpPr>
        <p:spPr>
          <a:xfrm>
            <a:off x="311700" y="2152800"/>
            <a:ext cx="8520600" cy="8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Now, The HR Diagram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HR Diagram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 name is Hertzsprung-Russell Diagram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Named after its creators, E. </a:t>
            </a:r>
            <a:r>
              <a:rPr lang="en"/>
              <a:t>Hertzsprung</a:t>
            </a:r>
            <a:r>
              <a:rPr lang="en"/>
              <a:t> and H. N. Russell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a graph, the x-axis is the temperature (or color) and the y-axis is their luminosity (or absolute magnitude)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X-axis units are typically Kelvin </a:t>
            </a:r>
            <a:r>
              <a:rPr lang="en" sz="1200"/>
              <a:t>(no degrees)</a:t>
            </a:r>
            <a:r>
              <a:rPr lang="en"/>
              <a:t>, 				wavelength/frequency, or color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Color is typically shown as “B-V”, or blue minus visible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It is the brightness in blue wavelengths minus the 						brightness in visible (or green) wavelengths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Smaller numbers (i.e. negative) are bluer							while bigger numbers are closer to 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Y-axis units are typically Lₛ</a:t>
            </a:r>
            <a:r>
              <a:rPr lang="en" sz="1500"/>
              <a:t>ᵤ</a:t>
            </a:r>
            <a:r>
              <a:rPr lang="en"/>
              <a:t>ₙ (or L</a:t>
            </a:r>
            <a:r>
              <a:rPr lang="en" sz="1000"/>
              <a:t>⊙</a:t>
            </a:r>
            <a:r>
              <a:rPr lang="en"/>
              <a:t>) (luminosity) 							or Absolute Magnitude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Rarely, it will be luminosity in units of power like watts or 							ergs/s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0400" y="2056626"/>
            <a:ext cx="3343600" cy="2894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" name="Google Shape;112;p21"/>
          <p:cNvSpPr txBox="1"/>
          <p:nvPr/>
        </p:nvSpPr>
        <p:spPr>
          <a:xfrm>
            <a:off x="5800550" y="4869950"/>
            <a:ext cx="33435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Note the Direction of the x-axis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HR Diagram Cont. </a:t>
            </a:r>
            <a:r>
              <a:rPr lang="en" sz="1578"/>
              <a:t>(Regions)</a:t>
            </a:r>
            <a:endParaRPr sz="1578"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plot a large number of stars on the HR Diagram, you will see them in several groups or regions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Main </a:t>
            </a:r>
            <a:r>
              <a:rPr lang="en"/>
              <a:t>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Which contains most stars, including the Sun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Giants and </a:t>
            </a:r>
            <a:r>
              <a:rPr lang="en"/>
              <a:t>Super Giants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Fairly self-explanatory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White Dwarfs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Remnants of Sun-like stars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and white-blue in color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Stars leave the Main </a:t>
            </a:r>
            <a:r>
              <a:rPr lang="en"/>
              <a:t>Sequence</a:t>
            </a:r>
            <a:r>
              <a:rPr lang="en"/>
              <a:t> when 									they run out of Hydrogen to “burn” and 									start burning Helium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they can become giants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eventually die, leaving behind a 								neutron star or black hole, or becoming 								          a white dwarf (depending on size)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050" y="1930250"/>
            <a:ext cx="4167950" cy="32132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HR Diagram Cont. </a:t>
            </a:r>
            <a:r>
              <a:rPr lang="en" sz="1578"/>
              <a:t>(What it Tells us)</a:t>
            </a:r>
            <a:endParaRPr sz="1578"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59709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of the way stars work, the HR Diagram can help us identify more information about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mass and size (radius) of the stars increase diagonally on the diagram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Size from left to right, and mass from right to left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determine the age of the cluster of stars plotted on the HR Diagram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because less massive stars burn through their Hydrogen more slowly - so they take longer to run out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leave the Main Sequence later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assume all stars in a cluster formed at more or less the same time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 by looking at the turnoff points of a HR Diagram (the top-left most stars still on the main sequence), we can estimate the age of the cluster</a:t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2650" y="0"/>
            <a:ext cx="2861350" cy="337213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" name="Google Shape;12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2650" y="3372150"/>
            <a:ext cx="2861350" cy="1797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017725"/>
            <a:ext cx="8520600" cy="4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311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You are going to be using the Starry Night (SN) software to collect data</a:t>
            </a:r>
            <a:endParaRPr sz="1900"/>
          </a:p>
          <a:p>
            <a:pPr indent="-30956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Search for each star in the table on page 6, and fill in all the information about them from what Starry Night says</a:t>
            </a:r>
            <a:endParaRPr sz="1500"/>
          </a:p>
          <a:p>
            <a:pPr indent="-30956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Then work through questions 1-9 and plot the stars from the table on your own HR Diagram (page 13)</a:t>
            </a:r>
            <a:endParaRPr sz="1500"/>
          </a:p>
          <a:p>
            <a:pPr indent="-3311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Then you will create a HR Diagram in Starry Night</a:t>
            </a:r>
            <a:endParaRPr sz="1900"/>
          </a:p>
          <a:p>
            <a:pPr indent="-30956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And answer questions 10-16</a:t>
            </a:r>
            <a:endParaRPr sz="1500"/>
          </a:p>
          <a:p>
            <a:pPr indent="-3311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Notes on Questions: </a:t>
            </a:r>
            <a:endParaRPr sz="1900"/>
          </a:p>
          <a:p>
            <a:pPr indent="-30956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Question 7 is worded unclearly, it is asking about the physical size of the stars</a:t>
            </a:r>
            <a:endParaRPr sz="1500"/>
          </a:p>
          <a:p>
            <a:pPr indent="-309563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500"/>
              <a:t>Not the number of stars in the group</a:t>
            </a:r>
            <a:endParaRPr sz="1500"/>
          </a:p>
          <a:p>
            <a:pPr indent="-30956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Question 9 is asking about the mass of the stars</a:t>
            </a:r>
            <a:endParaRPr sz="1500"/>
          </a:p>
          <a:p>
            <a:pPr indent="-309563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500"/>
              <a:t>Also, ignore the first sentence, start with “In other words…”</a:t>
            </a:r>
            <a:endParaRPr sz="1500"/>
          </a:p>
          <a:p>
            <a:pPr indent="-30956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Question 4 is extra credit as are parts b and c of question 8</a:t>
            </a:r>
            <a:endParaRPr sz="1500"/>
          </a:p>
          <a:p>
            <a:pPr indent="-309563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500"/>
              <a:t>Part a of question 8 is required as normal</a:t>
            </a:r>
            <a:endParaRPr sz="1500"/>
          </a:p>
          <a:p>
            <a:pPr indent="-3311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A fair amount of math in this lab:</a:t>
            </a:r>
            <a:endParaRPr sz="1900"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82"/>
              <a:t>Take your time</a:t>
            </a:r>
            <a:endParaRPr sz="1482"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82"/>
              <a:t>Show your work</a:t>
            </a:r>
            <a:endParaRPr sz="1482"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82"/>
              <a:t>Use a calculator</a:t>
            </a:r>
            <a:endParaRPr sz="1482"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82"/>
              <a:t>Ask for help</a:t>
            </a:r>
            <a:endParaRPr sz="1482"/>
          </a:p>
        </p:txBody>
      </p:sp>
      <p:sp>
        <p:nvSpPr>
          <p:cNvPr id="134" name="Google Shape;134;p24"/>
          <p:cNvSpPr txBox="1"/>
          <p:nvPr/>
        </p:nvSpPr>
        <p:spPr>
          <a:xfrm>
            <a:off x="5521075" y="2941625"/>
            <a:ext cx="36231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Note: SN may not recognize all of the star names due to being such an old version</a:t>
            </a:r>
            <a:endParaRPr sz="1600">
              <a:solidFill>
                <a:schemeClr val="dk1"/>
              </a:solidFill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Try Sirius instead of Sirius A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Particularly Wezen - Put Delta Canis Majoris when searching for it</a:t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 sz="1250">
                <a:solidFill>
                  <a:schemeClr val="dk1"/>
                </a:solidFill>
              </a:rPr>
              <a:t>It should recognize the name 2 Hya. But if not, search 2 Hydrae instead</a:t>
            </a:r>
            <a:endParaRPr sz="1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