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04a8802d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04a8802d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04a8802d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04a8802d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04a8802d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04a8802d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04a8802d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04a8802d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04a8802d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04a8802d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04a8802d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04a8802d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04a8802d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04a8802d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04a8802d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04a8802d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04a8802d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04a8802d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04a8802d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04a8802d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04a8802d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04a8802d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8152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424242"/>
            </a:gs>
            <a:gs pos="100000">
              <a:srgbClr val="010101"/>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None/>
              <a:defRPr sz="2800">
                <a:solidFill>
                  <a:schemeClr val="lt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Char char="●"/>
              <a:defRPr sz="1800">
                <a:solidFill>
                  <a:schemeClr val="lt1"/>
                </a:solidFill>
              </a:defRPr>
            </a:lvl1pPr>
            <a:lvl2pPr indent="-317500" lvl="1" marL="914400">
              <a:lnSpc>
                <a:spcPct val="115000"/>
              </a:lnSpc>
              <a:spcBef>
                <a:spcPts val="0"/>
              </a:spcBef>
              <a:spcAft>
                <a:spcPts val="0"/>
              </a:spcAft>
              <a:buClr>
                <a:schemeClr val="lt1"/>
              </a:buClr>
              <a:buSzPts val="1400"/>
              <a:buChar char="○"/>
              <a:defRPr>
                <a:solidFill>
                  <a:schemeClr val="lt1"/>
                </a:solidFill>
              </a:defRPr>
            </a:lvl2pPr>
            <a:lvl3pPr indent="-317500" lvl="2" marL="1371600">
              <a:lnSpc>
                <a:spcPct val="115000"/>
              </a:lnSpc>
              <a:spcBef>
                <a:spcPts val="0"/>
              </a:spcBef>
              <a:spcAft>
                <a:spcPts val="0"/>
              </a:spcAft>
              <a:buClr>
                <a:schemeClr val="lt1"/>
              </a:buClr>
              <a:buSzPts val="1400"/>
              <a:buChar char="■"/>
              <a:defRPr>
                <a:solidFill>
                  <a:schemeClr val="lt1"/>
                </a:solidFill>
              </a:defRPr>
            </a:lvl3pPr>
            <a:lvl4pPr indent="-317500" lvl="3" marL="1828800">
              <a:lnSpc>
                <a:spcPct val="115000"/>
              </a:lnSpc>
              <a:spcBef>
                <a:spcPts val="0"/>
              </a:spcBef>
              <a:spcAft>
                <a:spcPts val="0"/>
              </a:spcAft>
              <a:buClr>
                <a:schemeClr val="lt1"/>
              </a:buClr>
              <a:buSzPts val="1400"/>
              <a:buChar char="●"/>
              <a:defRPr>
                <a:solidFill>
                  <a:schemeClr val="lt1"/>
                </a:solidFill>
              </a:defRPr>
            </a:lvl4pPr>
            <a:lvl5pPr indent="-317500" lvl="4" marL="2286000">
              <a:lnSpc>
                <a:spcPct val="115000"/>
              </a:lnSpc>
              <a:spcBef>
                <a:spcPts val="0"/>
              </a:spcBef>
              <a:spcAft>
                <a:spcPts val="0"/>
              </a:spcAft>
              <a:buClr>
                <a:schemeClr val="lt1"/>
              </a:buClr>
              <a:buSzPts val="1400"/>
              <a:buChar char="○"/>
              <a:defRPr>
                <a:solidFill>
                  <a:schemeClr val="lt1"/>
                </a:solidFill>
              </a:defRPr>
            </a:lvl5pPr>
            <a:lvl6pPr indent="-317500" lvl="5" marL="2743200">
              <a:lnSpc>
                <a:spcPct val="115000"/>
              </a:lnSpc>
              <a:spcBef>
                <a:spcPts val="0"/>
              </a:spcBef>
              <a:spcAft>
                <a:spcPts val="0"/>
              </a:spcAft>
              <a:buClr>
                <a:schemeClr val="lt1"/>
              </a:buClr>
              <a:buSzPts val="1400"/>
              <a:buChar char="■"/>
              <a:defRPr>
                <a:solidFill>
                  <a:schemeClr val="lt1"/>
                </a:solidFill>
              </a:defRPr>
            </a:lvl6pPr>
            <a:lvl7pPr indent="-317500" lvl="6" marL="3200400">
              <a:lnSpc>
                <a:spcPct val="115000"/>
              </a:lnSpc>
              <a:spcBef>
                <a:spcPts val="0"/>
              </a:spcBef>
              <a:spcAft>
                <a:spcPts val="0"/>
              </a:spcAft>
              <a:buClr>
                <a:schemeClr val="lt1"/>
              </a:buClr>
              <a:buSzPts val="1400"/>
              <a:buChar char="●"/>
              <a:defRPr>
                <a:solidFill>
                  <a:schemeClr val="lt1"/>
                </a:solidFill>
              </a:defRPr>
            </a:lvl7pPr>
            <a:lvl8pPr indent="-317500" lvl="7" marL="3657600">
              <a:lnSpc>
                <a:spcPct val="115000"/>
              </a:lnSpc>
              <a:spcBef>
                <a:spcPts val="0"/>
              </a:spcBef>
              <a:spcAft>
                <a:spcPts val="0"/>
              </a:spcAft>
              <a:buClr>
                <a:schemeClr val="lt1"/>
              </a:buClr>
              <a:buSzPts val="1400"/>
              <a:buChar char="○"/>
              <a:defRPr>
                <a:solidFill>
                  <a:schemeClr val="lt1"/>
                </a:solidFill>
              </a:defRPr>
            </a:lvl8pPr>
            <a:lvl9pPr indent="-317500" lvl="8" marL="4114800">
              <a:lnSpc>
                <a:spcPct val="115000"/>
              </a:lnSpc>
              <a:spcBef>
                <a:spcPts val="0"/>
              </a:spcBef>
              <a:spcAft>
                <a:spcPts val="0"/>
              </a:spcAft>
              <a:buClr>
                <a:schemeClr val="lt1"/>
              </a:buClr>
              <a:buSzPts val="1400"/>
              <a:buChar char="■"/>
              <a:defRPr>
                <a:solidFill>
                  <a:schemeClr val="lt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Announcements</a:t>
            </a:r>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Last day to turn in labs is Monday</a:t>
            </a:r>
            <a:endParaRPr/>
          </a:p>
          <a:p>
            <a:pPr indent="-317500" lvl="1" marL="914400" rtl="0" algn="l">
              <a:spcBef>
                <a:spcPts val="0"/>
              </a:spcBef>
              <a:spcAft>
                <a:spcPts val="0"/>
              </a:spcAft>
              <a:buSzPts val="1400"/>
              <a:buChar char="○"/>
            </a:pPr>
            <a:r>
              <a:rPr lang="en"/>
              <a:t>Unless you talk to me about doing a makeup lab on either Tuesday 28th or Wednesday 29th</a:t>
            </a:r>
            <a:endParaRPr/>
          </a:p>
          <a:p>
            <a:pPr indent="-317500" lvl="1" marL="914400" rtl="0" algn="l">
              <a:spcBef>
                <a:spcPts val="0"/>
              </a:spcBef>
              <a:spcAft>
                <a:spcPts val="0"/>
              </a:spcAft>
              <a:buSzPts val="1400"/>
              <a:buChar char="○"/>
            </a:pPr>
            <a:r>
              <a:rPr lang="en"/>
              <a:t>C</a:t>
            </a:r>
            <a:r>
              <a:rPr lang="en"/>
              <a:t>urrently have plans for a Tuesday Day session (3:30) and a Tuesday Night session (7:30)</a:t>
            </a:r>
            <a:endParaRPr/>
          </a:p>
          <a:p>
            <a:pPr indent="-317500" lvl="1" marL="914400" rtl="0" algn="l">
              <a:spcBef>
                <a:spcPts val="0"/>
              </a:spcBef>
              <a:spcAft>
                <a:spcPts val="0"/>
              </a:spcAft>
              <a:buSzPts val="1400"/>
              <a:buChar char="○"/>
            </a:pPr>
            <a:r>
              <a:rPr lang="en"/>
              <a:t>I need to know in advance which labs to set up - so </a:t>
            </a:r>
            <a:r>
              <a:rPr b="1" i="1" lang="en" u="sng"/>
              <a:t>email me</a:t>
            </a:r>
            <a:r>
              <a:rPr lang="en"/>
              <a:t> if you need a makeup lab</a:t>
            </a:r>
            <a:endParaRPr/>
          </a:p>
          <a:p>
            <a:pPr indent="-342900" lvl="0" marL="457200" rtl="0" algn="l">
              <a:spcBef>
                <a:spcPts val="0"/>
              </a:spcBef>
              <a:spcAft>
                <a:spcPts val="0"/>
              </a:spcAft>
              <a:buSzPts val="1800"/>
              <a:buChar char="●"/>
            </a:pPr>
            <a:r>
              <a:rPr lang="en"/>
              <a:t>Course evaluations are now open - check your ASU email</a:t>
            </a:r>
            <a:endParaRPr/>
          </a:p>
          <a:p>
            <a:pPr indent="-342900" lvl="0" marL="457200" rtl="0" algn="l">
              <a:spcBef>
                <a:spcPts val="0"/>
              </a:spcBef>
              <a:spcAft>
                <a:spcPts val="0"/>
              </a:spcAft>
              <a:buSzPts val="1800"/>
              <a:buChar char="●"/>
            </a:pPr>
            <a:r>
              <a:rPr lang="en"/>
              <a:t>Minor error on question 6 of the pre-lab - I will manually regrade it</a:t>
            </a:r>
            <a:endParaRPr/>
          </a:p>
          <a:p>
            <a:pPr indent="-342900" lvl="0" marL="457200" rtl="0" algn="l">
              <a:spcBef>
                <a:spcPts val="0"/>
              </a:spcBef>
              <a:spcAft>
                <a:spcPts val="0"/>
              </a:spcAft>
              <a:buSzPts val="1800"/>
              <a:buChar char="●"/>
            </a:pPr>
            <a:r>
              <a:rPr lang="en"/>
              <a:t>This is our last lab!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0" y="-2679700"/>
            <a:ext cx="9144003" cy="9144003"/>
          </a:xfrm>
          <a:prstGeom prst="rect">
            <a:avLst/>
          </a:prstGeom>
          <a:noFill/>
          <a:ln>
            <a:noFill/>
          </a:ln>
        </p:spPr>
      </p:pic>
      <p:sp>
        <p:nvSpPr>
          <p:cNvPr id="61" name="Google Shape;61;p14"/>
          <p:cNvSpPr txBox="1"/>
          <p:nvPr>
            <p:ph type="ctrTitle"/>
          </p:nvPr>
        </p:nvSpPr>
        <p:spPr>
          <a:xfrm>
            <a:off x="311708"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Hubble Expansion</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Colors and Wavelength Review</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Light is a wave</a:t>
            </a:r>
            <a:endParaRPr/>
          </a:p>
          <a:p>
            <a:pPr indent="-342900" lvl="0" marL="457200" rtl="0" algn="l">
              <a:spcBef>
                <a:spcPts val="0"/>
              </a:spcBef>
              <a:spcAft>
                <a:spcPts val="0"/>
              </a:spcAft>
              <a:buSzPts val="1800"/>
              <a:buChar char="●"/>
            </a:pPr>
            <a:r>
              <a:rPr lang="en"/>
              <a:t>The wavelength (distance between the crests of two individual waves) determines the color of the light</a:t>
            </a:r>
            <a:endParaRPr/>
          </a:p>
          <a:p>
            <a:pPr indent="-317500" lvl="1" marL="914400" rtl="0" algn="l">
              <a:spcBef>
                <a:spcPts val="0"/>
              </a:spcBef>
              <a:spcAft>
                <a:spcPts val="0"/>
              </a:spcAft>
              <a:buSzPts val="1400"/>
              <a:buChar char="○"/>
            </a:pPr>
            <a:r>
              <a:rPr lang="en"/>
              <a:t>Long wavelength (low frequency) means redder light</a:t>
            </a:r>
            <a:endParaRPr/>
          </a:p>
          <a:p>
            <a:pPr indent="-317500" lvl="1" marL="914400" rtl="0" algn="l">
              <a:spcBef>
                <a:spcPts val="0"/>
              </a:spcBef>
              <a:spcAft>
                <a:spcPts val="0"/>
              </a:spcAft>
              <a:buSzPts val="1400"/>
              <a:buChar char="○"/>
            </a:pPr>
            <a:r>
              <a:rPr lang="en"/>
              <a:t>Short wavelength (high frequency) means bluer light</a:t>
            </a:r>
            <a:endParaRPr/>
          </a:p>
        </p:txBody>
      </p:sp>
      <p:pic>
        <p:nvPicPr>
          <p:cNvPr id="68" name="Google Shape;68;p15"/>
          <p:cNvPicPr preferRelativeResize="0"/>
          <p:nvPr/>
        </p:nvPicPr>
        <p:blipFill rotWithShape="1">
          <a:blip r:embed="rId3">
            <a:alphaModFix/>
          </a:blip>
          <a:srcRect b="0" l="0" r="0" t="10571"/>
          <a:stretch/>
        </p:blipFill>
        <p:spPr>
          <a:xfrm>
            <a:off x="2450050" y="2734725"/>
            <a:ext cx="4243899" cy="24087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Doppler Shift</a:t>
            </a:r>
            <a:endParaRPr/>
          </a:p>
        </p:txBody>
      </p:sp>
      <p:sp>
        <p:nvSpPr>
          <p:cNvPr id="74" name="Google Shape;74;p16"/>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Imagine an emergency vehicle driving past with its sirens on</a:t>
            </a:r>
            <a:endParaRPr/>
          </a:p>
          <a:p>
            <a:pPr indent="-317500" lvl="1" marL="914400" rtl="0" algn="l">
              <a:spcBef>
                <a:spcPts val="0"/>
              </a:spcBef>
              <a:spcAft>
                <a:spcPts val="0"/>
              </a:spcAft>
              <a:buSzPts val="1400"/>
              <a:buChar char="○"/>
            </a:pPr>
            <a:r>
              <a:rPr lang="en"/>
              <a:t>As it gets closer, the sound is a higher frequency</a:t>
            </a:r>
            <a:endParaRPr/>
          </a:p>
          <a:p>
            <a:pPr indent="-317500" lvl="1" marL="914400" rtl="0" algn="l">
              <a:spcBef>
                <a:spcPts val="0"/>
              </a:spcBef>
              <a:spcAft>
                <a:spcPts val="0"/>
              </a:spcAft>
              <a:buSzPts val="1400"/>
              <a:buChar char="○"/>
            </a:pPr>
            <a:r>
              <a:rPr lang="en"/>
              <a:t>But once it passes you and starts moving away, the sound has a lower frequency</a:t>
            </a:r>
            <a:endParaRPr/>
          </a:p>
          <a:p>
            <a:pPr indent="-317500" lvl="1" marL="914400" rtl="0" algn="l">
              <a:spcBef>
                <a:spcPts val="0"/>
              </a:spcBef>
              <a:spcAft>
                <a:spcPts val="0"/>
              </a:spcAft>
              <a:buSzPts val="1400"/>
              <a:buChar char="○"/>
            </a:pPr>
            <a:r>
              <a:rPr lang="en"/>
              <a:t>The sound at the source doesn’t change - but it gets squished as the source comes towards you and stretched as it moves away</a:t>
            </a:r>
            <a:endParaRPr/>
          </a:p>
        </p:txBody>
      </p:sp>
      <p:pic>
        <p:nvPicPr>
          <p:cNvPr id="75" name="Google Shape;75;p16"/>
          <p:cNvPicPr preferRelativeResize="0"/>
          <p:nvPr/>
        </p:nvPicPr>
        <p:blipFill>
          <a:blip r:embed="rId3">
            <a:alphaModFix/>
          </a:blip>
          <a:stretch>
            <a:fillRect/>
          </a:stretch>
        </p:blipFill>
        <p:spPr>
          <a:xfrm>
            <a:off x="4572000" y="1152475"/>
            <a:ext cx="4555199" cy="341639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Doppler Shift Cont.</a:t>
            </a:r>
            <a:endParaRPr/>
          </a:p>
        </p:txBody>
      </p:sp>
      <p:sp>
        <p:nvSpPr>
          <p:cNvPr id="81" name="Google Shape;81;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same thing happens with light</a:t>
            </a:r>
            <a:endParaRPr/>
          </a:p>
          <a:p>
            <a:pPr indent="-317500" lvl="1" marL="914400" rtl="0" algn="l">
              <a:spcBef>
                <a:spcPts val="0"/>
              </a:spcBef>
              <a:spcAft>
                <a:spcPts val="0"/>
              </a:spcAft>
              <a:buSzPts val="1400"/>
              <a:buChar char="○"/>
            </a:pPr>
            <a:r>
              <a:rPr lang="en"/>
              <a:t>We call this blueshift when the light source is moving towards you</a:t>
            </a:r>
            <a:endParaRPr/>
          </a:p>
          <a:p>
            <a:pPr indent="-317500" lvl="2" marL="1371600" rtl="0" algn="l">
              <a:spcBef>
                <a:spcPts val="0"/>
              </a:spcBef>
              <a:spcAft>
                <a:spcPts val="0"/>
              </a:spcAft>
              <a:buSzPts val="1400"/>
              <a:buChar char="■"/>
            </a:pPr>
            <a:r>
              <a:rPr lang="en"/>
              <a:t>Squishing the waves, so they have a shorter wavelength and appear more blue</a:t>
            </a:r>
            <a:endParaRPr/>
          </a:p>
          <a:p>
            <a:pPr indent="-317500" lvl="1" marL="914400" rtl="0" algn="l">
              <a:spcBef>
                <a:spcPts val="0"/>
              </a:spcBef>
              <a:spcAft>
                <a:spcPts val="0"/>
              </a:spcAft>
              <a:buSzPts val="1400"/>
              <a:buChar char="○"/>
            </a:pPr>
            <a:r>
              <a:rPr lang="en"/>
              <a:t>And Redshift when the light source is moving away</a:t>
            </a:r>
            <a:endParaRPr/>
          </a:p>
          <a:p>
            <a:pPr indent="-317500" lvl="2" marL="1371600" rtl="0" algn="l">
              <a:spcBef>
                <a:spcPts val="0"/>
              </a:spcBef>
              <a:spcAft>
                <a:spcPts val="0"/>
              </a:spcAft>
              <a:buSzPts val="1400"/>
              <a:buChar char="■"/>
            </a:pPr>
            <a:r>
              <a:rPr lang="en"/>
              <a:t>Stretching the waves, so they have longer wavelengths and appear more red</a:t>
            </a:r>
            <a:endParaRPr/>
          </a:p>
        </p:txBody>
      </p:sp>
      <p:pic>
        <p:nvPicPr>
          <p:cNvPr id="82" name="Google Shape;82;p17"/>
          <p:cNvPicPr preferRelativeResize="0"/>
          <p:nvPr/>
        </p:nvPicPr>
        <p:blipFill rotWithShape="1">
          <a:blip r:embed="rId3">
            <a:alphaModFix/>
          </a:blip>
          <a:srcRect b="0" l="0" r="0" t="0"/>
          <a:stretch/>
        </p:blipFill>
        <p:spPr>
          <a:xfrm>
            <a:off x="4571996" y="1314975"/>
            <a:ext cx="4555750" cy="30914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Doppler Shift Cont.</a:t>
            </a:r>
            <a:endParaRPr/>
          </a:p>
        </p:txBody>
      </p:sp>
      <p:sp>
        <p:nvSpPr>
          <p:cNvPr id="88" name="Google Shape;88;p18"/>
          <p:cNvSpPr txBox="1"/>
          <p:nvPr>
            <p:ph idx="1" type="body"/>
          </p:nvPr>
        </p:nvSpPr>
        <p:spPr>
          <a:xfrm>
            <a:off x="311700" y="1152475"/>
            <a:ext cx="4260300" cy="369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 how do we find Doppler Shift?</a:t>
            </a:r>
            <a:endParaRPr/>
          </a:p>
          <a:p>
            <a:pPr indent="-317500" lvl="1" marL="914400" rtl="0" algn="l">
              <a:spcBef>
                <a:spcPts val="0"/>
              </a:spcBef>
              <a:spcAft>
                <a:spcPts val="0"/>
              </a:spcAft>
              <a:buSzPts val="1400"/>
              <a:buChar char="○"/>
            </a:pPr>
            <a:r>
              <a:rPr lang="en"/>
              <a:t>Remember from the </a:t>
            </a:r>
            <a:r>
              <a:rPr i="1" lang="en"/>
              <a:t>Spectroscopy Lab</a:t>
            </a:r>
            <a:r>
              <a:rPr lang="en"/>
              <a:t>, each element has specific spectral lines that appear at certain points where they </a:t>
            </a:r>
            <a:r>
              <a:rPr lang="en"/>
              <a:t>absorb</a:t>
            </a:r>
            <a:r>
              <a:rPr lang="en"/>
              <a:t> or emit light</a:t>
            </a:r>
            <a:endParaRPr/>
          </a:p>
          <a:p>
            <a:pPr indent="-317500" lvl="1" marL="914400" rtl="0" algn="l">
              <a:spcBef>
                <a:spcPts val="0"/>
              </a:spcBef>
              <a:spcAft>
                <a:spcPts val="0"/>
              </a:spcAft>
              <a:buSzPts val="1400"/>
              <a:buChar char="○"/>
            </a:pPr>
            <a:r>
              <a:rPr lang="en"/>
              <a:t>Those lines shift along with the light</a:t>
            </a:r>
            <a:endParaRPr/>
          </a:p>
          <a:p>
            <a:pPr indent="-317500" lvl="2" marL="1371600" rtl="0" algn="l">
              <a:spcBef>
                <a:spcPts val="0"/>
              </a:spcBef>
              <a:spcAft>
                <a:spcPts val="0"/>
              </a:spcAft>
              <a:buSzPts val="1400"/>
              <a:buChar char="■"/>
            </a:pPr>
            <a:r>
              <a:rPr lang="en"/>
              <a:t>They become more blue when the light is blueshifted</a:t>
            </a:r>
            <a:endParaRPr/>
          </a:p>
          <a:p>
            <a:pPr indent="-317500" lvl="2" marL="1371600" rtl="0" algn="l">
              <a:spcBef>
                <a:spcPts val="0"/>
              </a:spcBef>
              <a:spcAft>
                <a:spcPts val="0"/>
              </a:spcAft>
              <a:buSzPts val="1400"/>
              <a:buChar char="■"/>
            </a:pPr>
            <a:r>
              <a:rPr lang="en"/>
              <a:t>And they become more red when the light is redshifted</a:t>
            </a:r>
            <a:endParaRPr/>
          </a:p>
          <a:p>
            <a:pPr indent="-317500" lvl="1" marL="914400" rtl="0" algn="l">
              <a:spcBef>
                <a:spcPts val="0"/>
              </a:spcBef>
              <a:spcAft>
                <a:spcPts val="0"/>
              </a:spcAft>
              <a:buSzPts val="1400"/>
              <a:buChar char="○"/>
            </a:pPr>
            <a:r>
              <a:rPr lang="en"/>
              <a:t>In other words, we know where the lines should be based on laboratory experiments, so we can the difference to see how much shift there is</a:t>
            </a:r>
            <a:endParaRPr/>
          </a:p>
        </p:txBody>
      </p:sp>
      <p:pic>
        <p:nvPicPr>
          <p:cNvPr descr="doppler" id="89" name="Google Shape;89;p18"/>
          <p:cNvPicPr preferRelativeResize="0"/>
          <p:nvPr/>
        </p:nvPicPr>
        <p:blipFill rotWithShape="1">
          <a:blip r:embed="rId3">
            <a:alphaModFix/>
          </a:blip>
          <a:srcRect b="0" l="0" r="0" t="0"/>
          <a:stretch/>
        </p:blipFill>
        <p:spPr>
          <a:xfrm>
            <a:off x="4572000" y="1152475"/>
            <a:ext cx="4572000" cy="297478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Doppler Shift Cont.</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faster something is moving, the more shift we observe</a:t>
            </a:r>
            <a:endParaRPr/>
          </a:p>
          <a:p>
            <a:pPr indent="-317500" lvl="1" marL="914400" rtl="0" algn="l">
              <a:spcBef>
                <a:spcPts val="0"/>
              </a:spcBef>
              <a:spcAft>
                <a:spcPts val="0"/>
              </a:spcAft>
              <a:buSzPts val="1400"/>
              <a:buChar char="○"/>
            </a:pPr>
            <a:r>
              <a:rPr lang="en"/>
              <a:t>So, once we know how much the light is shifted, and in which direction, we can calculate how fast the light source is moving towards or away from us</a:t>
            </a:r>
            <a:endParaRPr/>
          </a:p>
        </p:txBody>
      </p:sp>
      <p:sp>
        <p:nvSpPr>
          <p:cNvPr id="96" name="Google Shape;96;p19"/>
          <p:cNvSpPr txBox="1"/>
          <p:nvPr/>
        </p:nvSpPr>
        <p:spPr>
          <a:xfrm>
            <a:off x="3325947" y="2152138"/>
            <a:ext cx="2492100" cy="9411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Calibri"/>
                <a:ea typeface="Calibri"/>
                <a:cs typeface="Calibri"/>
                <a:sym typeface="Calibri"/>
              </a:rPr>
              <a:t> </a:t>
            </a:r>
            <a:endParaRPr/>
          </a:p>
        </p:txBody>
      </p:sp>
      <p:sp>
        <p:nvSpPr>
          <p:cNvPr id="97" name="Google Shape;97;p19"/>
          <p:cNvSpPr txBox="1"/>
          <p:nvPr/>
        </p:nvSpPr>
        <p:spPr>
          <a:xfrm>
            <a:off x="2407493" y="3227690"/>
            <a:ext cx="43290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 sz="2800">
                <a:solidFill>
                  <a:srgbClr val="FFFFFF"/>
                </a:solidFill>
                <a:latin typeface="Calibri"/>
                <a:ea typeface="Calibri"/>
                <a:cs typeface="Calibri"/>
                <a:sym typeface="Calibri"/>
              </a:rPr>
              <a:t>Or if z &lt;&lt; 1</a:t>
            </a:r>
            <a:endParaRPr/>
          </a:p>
        </p:txBody>
      </p:sp>
      <p:sp>
        <p:nvSpPr>
          <p:cNvPr id="98" name="Google Shape;98;p19"/>
          <p:cNvSpPr txBox="1"/>
          <p:nvPr/>
        </p:nvSpPr>
        <p:spPr>
          <a:xfrm>
            <a:off x="4022240" y="3943180"/>
            <a:ext cx="1099500" cy="4308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Calibri"/>
                <a:ea typeface="Calibri"/>
                <a:cs typeface="Calibri"/>
                <a:sym typeface="Calibri"/>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Hubble’s Law</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When Edwin Hubble studied the spectra of distant galaxies, he expected that the number of redshifted galaxies and blueshifted galaxies would be roughly the same</a:t>
            </a:r>
            <a:endParaRPr/>
          </a:p>
          <a:p>
            <a:pPr indent="-342900" lvl="0" marL="457200" rtl="0" algn="l">
              <a:spcBef>
                <a:spcPts val="0"/>
              </a:spcBef>
              <a:spcAft>
                <a:spcPts val="0"/>
              </a:spcAft>
              <a:buSzPts val="1800"/>
              <a:buChar char="●"/>
            </a:pPr>
            <a:r>
              <a:rPr lang="en"/>
              <a:t>But they weren’t, the vast majority of galaxies were redshifted</a:t>
            </a:r>
            <a:endParaRPr/>
          </a:p>
          <a:p>
            <a:pPr indent="-317500" lvl="1" marL="914400" rtl="0" algn="l">
              <a:spcBef>
                <a:spcPts val="0"/>
              </a:spcBef>
              <a:spcAft>
                <a:spcPts val="0"/>
              </a:spcAft>
              <a:buSzPts val="1400"/>
              <a:buChar char="○"/>
            </a:pPr>
            <a:r>
              <a:rPr lang="en"/>
              <a:t>And the amount of redshift increased the </a:t>
            </a:r>
            <a:r>
              <a:rPr lang="en"/>
              <a:t>further away the galaxies were - indicating they were all moving away from us</a:t>
            </a:r>
            <a:endParaRPr/>
          </a:p>
        </p:txBody>
      </p:sp>
      <p:pic>
        <p:nvPicPr>
          <p:cNvPr descr="hubble_law" id="105" name="Google Shape;105;p20"/>
          <p:cNvPicPr preferRelativeResize="0"/>
          <p:nvPr/>
        </p:nvPicPr>
        <p:blipFill rotWithShape="1">
          <a:blip r:embed="rId3">
            <a:alphaModFix/>
          </a:blip>
          <a:srcRect b="0" l="0" r="0" t="0"/>
          <a:stretch/>
        </p:blipFill>
        <p:spPr>
          <a:xfrm>
            <a:off x="3039525" y="2964175"/>
            <a:ext cx="3120700" cy="21793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Expanding Universe</a:t>
            </a:r>
            <a:endParaRPr/>
          </a:p>
        </p:txBody>
      </p:sp>
      <p:sp>
        <p:nvSpPr>
          <p:cNvPr id="111" name="Google Shape;111;p21"/>
          <p:cNvSpPr txBox="1"/>
          <p:nvPr>
            <p:ph idx="1" type="body"/>
          </p:nvPr>
        </p:nvSpPr>
        <p:spPr>
          <a:xfrm>
            <a:off x="4260300" y="1152475"/>
            <a:ext cx="4572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 the universe is expanding around us, </a:t>
            </a:r>
            <a:r>
              <a:rPr b="1" i="1" lang="en" u="sng"/>
              <a:t>but we are not at the center</a:t>
            </a:r>
            <a:endParaRPr/>
          </a:p>
          <a:p>
            <a:pPr indent="-342900" lvl="0" marL="457200" rtl="0" algn="l">
              <a:spcBef>
                <a:spcPts val="0"/>
              </a:spcBef>
              <a:spcAft>
                <a:spcPts val="0"/>
              </a:spcAft>
              <a:buSzPts val="1800"/>
              <a:buChar char="●"/>
            </a:pPr>
            <a:r>
              <a:rPr lang="en"/>
              <a:t>Space itself expands everywhere, in all directions</a:t>
            </a:r>
            <a:endParaRPr/>
          </a:p>
          <a:p>
            <a:pPr indent="-342900" lvl="0" marL="457200" rtl="0" algn="l">
              <a:spcBef>
                <a:spcPts val="0"/>
              </a:spcBef>
              <a:spcAft>
                <a:spcPts val="0"/>
              </a:spcAft>
              <a:buSzPts val="1800"/>
              <a:buChar char="●"/>
            </a:pPr>
            <a:r>
              <a:rPr lang="en"/>
              <a:t>Think of a cake baking, or a </a:t>
            </a:r>
            <a:r>
              <a:rPr lang="en"/>
              <a:t>balloon</a:t>
            </a:r>
            <a:r>
              <a:rPr lang="en"/>
              <a:t> being blown up</a:t>
            </a:r>
            <a:endParaRPr/>
          </a:p>
        </p:txBody>
      </p:sp>
      <p:pic>
        <p:nvPicPr>
          <p:cNvPr descr="expansion" id="112" name="Google Shape;112;p21"/>
          <p:cNvPicPr preferRelativeResize="0"/>
          <p:nvPr/>
        </p:nvPicPr>
        <p:blipFill rotWithShape="1">
          <a:blip r:embed="rId3">
            <a:alphaModFix/>
          </a:blip>
          <a:srcRect b="0" l="0" r="0" t="0"/>
          <a:stretch/>
        </p:blipFill>
        <p:spPr>
          <a:xfrm>
            <a:off x="0" y="1017730"/>
            <a:ext cx="4260300" cy="411549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Hubble’s Law Cont.</a:t>
            </a:r>
            <a:endParaRPr/>
          </a:p>
        </p:txBody>
      </p:sp>
      <p:sp>
        <p:nvSpPr>
          <p:cNvPr id="118" name="Google Shape;118;p22"/>
          <p:cNvSpPr txBox="1"/>
          <p:nvPr>
            <p:ph idx="1" type="body"/>
          </p:nvPr>
        </p:nvSpPr>
        <p:spPr>
          <a:xfrm>
            <a:off x="311700" y="1152475"/>
            <a:ext cx="4267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When you graph the velocity of galaxies vs their distance from us, you will see a line</a:t>
            </a:r>
            <a:endParaRPr/>
          </a:p>
          <a:p>
            <a:pPr indent="-342900" lvl="0" marL="457200" rtl="0" algn="l">
              <a:spcBef>
                <a:spcPts val="0"/>
              </a:spcBef>
              <a:spcAft>
                <a:spcPts val="0"/>
              </a:spcAft>
              <a:buSzPts val="1800"/>
              <a:buChar char="●"/>
            </a:pPr>
            <a:r>
              <a:rPr lang="en"/>
              <a:t>The slope of this line is “Hubble’s Constant”</a:t>
            </a:r>
            <a:endParaRPr/>
          </a:p>
          <a:p>
            <a:pPr indent="-342900" lvl="0" marL="457200" rtl="0" algn="l">
              <a:spcBef>
                <a:spcPts val="0"/>
              </a:spcBef>
              <a:spcAft>
                <a:spcPts val="0"/>
              </a:spcAft>
              <a:buSzPts val="1800"/>
              <a:buChar char="●"/>
            </a:pPr>
            <a:r>
              <a:rPr lang="en"/>
              <a:t>H0 = v (km/s) / D (Mpc)</a:t>
            </a:r>
            <a:endParaRPr/>
          </a:p>
          <a:p>
            <a:pPr indent="-342900" lvl="0" marL="457200" rtl="0" algn="l">
              <a:spcBef>
                <a:spcPts val="0"/>
              </a:spcBef>
              <a:spcAft>
                <a:spcPts val="0"/>
              </a:spcAft>
              <a:buSzPts val="1800"/>
              <a:buChar char="●"/>
            </a:pPr>
            <a:r>
              <a:rPr lang="en"/>
              <a:t>This represents how fast the universe is expanding</a:t>
            </a:r>
            <a:endParaRPr/>
          </a:p>
        </p:txBody>
      </p:sp>
      <p:pic>
        <p:nvPicPr>
          <p:cNvPr descr="hubble_law" id="119" name="Google Shape;119;p22"/>
          <p:cNvPicPr preferRelativeResize="0"/>
          <p:nvPr/>
        </p:nvPicPr>
        <p:blipFill rotWithShape="1">
          <a:blip r:embed="rId3">
            <a:alphaModFix/>
          </a:blip>
          <a:srcRect b="0" l="0" r="0" t="0"/>
          <a:stretch/>
        </p:blipFill>
        <p:spPr>
          <a:xfrm>
            <a:off x="4572000" y="1266769"/>
            <a:ext cx="4564801" cy="318780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Hubble’s Constant and the Age of the Universe</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units of Hubble’s Constant are km/s/Mpc</a:t>
            </a:r>
            <a:endParaRPr/>
          </a:p>
          <a:p>
            <a:pPr indent="-317500" lvl="1" marL="914400" rtl="0" algn="l">
              <a:spcBef>
                <a:spcPts val="0"/>
              </a:spcBef>
              <a:spcAft>
                <a:spcPts val="0"/>
              </a:spcAft>
              <a:buSzPts val="1400"/>
              <a:buChar char="○"/>
            </a:pPr>
            <a:r>
              <a:rPr lang="en"/>
              <a:t>Both km and Mpc are distances, and since they are being divided they can cancel out</a:t>
            </a:r>
            <a:endParaRPr/>
          </a:p>
          <a:p>
            <a:pPr indent="-317500" lvl="1" marL="914400" rtl="0" algn="l">
              <a:spcBef>
                <a:spcPts val="0"/>
              </a:spcBef>
              <a:spcAft>
                <a:spcPts val="0"/>
              </a:spcAft>
              <a:buSzPts val="1400"/>
              <a:buChar char="○"/>
            </a:pPr>
            <a:r>
              <a:rPr lang="en"/>
              <a:t>This will leave you with just a number of 1/s (a.k.a. Hz (or Bq))</a:t>
            </a:r>
            <a:endParaRPr/>
          </a:p>
          <a:p>
            <a:pPr indent="-317500" lvl="1" marL="914400" rtl="0" algn="l">
              <a:spcBef>
                <a:spcPts val="0"/>
              </a:spcBef>
              <a:spcAft>
                <a:spcPts val="0"/>
              </a:spcAft>
              <a:buSzPts val="1400"/>
              <a:buChar char="○"/>
            </a:pPr>
            <a:r>
              <a:rPr lang="en"/>
              <a:t>Take the inverse of this (divide 1 by it) and you will have a number of seconds - this is the age of </a:t>
            </a:r>
            <a:r>
              <a:rPr lang="en"/>
              <a:t>the universe</a:t>
            </a:r>
            <a:endParaRPr/>
          </a:p>
          <a:p>
            <a:pPr indent="-317500" lvl="1" marL="914400" rtl="0" algn="l">
              <a:spcBef>
                <a:spcPts val="0"/>
              </a:spcBef>
              <a:spcAft>
                <a:spcPts val="0"/>
              </a:spcAft>
              <a:buSzPts val="1400"/>
              <a:buChar char="○"/>
            </a:pPr>
            <a:r>
              <a:rPr lang="en"/>
              <a:t>Because Hubble’s Constant is a measure of how fast the universe is expanding, this is like turning back the clock to see how long ago was all the stuff in the universe all in the same place (a.k.a. The Big Bang)</a:t>
            </a:r>
            <a:endParaRPr/>
          </a:p>
        </p:txBody>
      </p:sp>
      <p:pic>
        <p:nvPicPr>
          <p:cNvPr id="126" name="Google Shape;126;p23"/>
          <p:cNvPicPr preferRelativeResize="0"/>
          <p:nvPr/>
        </p:nvPicPr>
        <p:blipFill>
          <a:blip r:embed="rId3">
            <a:alphaModFix/>
          </a:blip>
          <a:stretch>
            <a:fillRect/>
          </a:stretch>
        </p:blipFill>
        <p:spPr>
          <a:xfrm>
            <a:off x="0" y="3911334"/>
            <a:ext cx="9144000" cy="12321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You will use the AHaH software to observe various galaxies in the Hubble Ultra Deep Field</a:t>
            </a:r>
            <a:endParaRPr/>
          </a:p>
          <a:p>
            <a:pPr indent="-342900" lvl="0" marL="457200" rtl="0" algn="l">
              <a:spcBef>
                <a:spcPts val="0"/>
              </a:spcBef>
              <a:spcAft>
                <a:spcPts val="0"/>
              </a:spcAft>
              <a:buSzPts val="1800"/>
              <a:buChar char="●"/>
            </a:pPr>
            <a:r>
              <a:rPr lang="en"/>
              <a:t>Make a copy of the spreadsheet linked on Canvas and input redshift and distance measurements of 15 galaxies (with redshift less than 1.0)</a:t>
            </a:r>
            <a:endParaRPr/>
          </a:p>
          <a:p>
            <a:pPr indent="-317500" lvl="1" marL="914400" rtl="0" algn="l">
              <a:spcBef>
                <a:spcPts val="0"/>
              </a:spcBef>
              <a:spcAft>
                <a:spcPts val="0"/>
              </a:spcAft>
              <a:buSzPts val="1400"/>
              <a:buChar char="○"/>
            </a:pPr>
            <a:r>
              <a:rPr lang="en"/>
              <a:t>It will calculate the velocity and plot the galaxies on a graph automatically</a:t>
            </a:r>
            <a:endParaRPr/>
          </a:p>
          <a:p>
            <a:pPr indent="-342900" lvl="0" marL="457200" rtl="0" algn="l">
              <a:spcBef>
                <a:spcPts val="0"/>
              </a:spcBef>
              <a:spcAft>
                <a:spcPts val="0"/>
              </a:spcAft>
              <a:buSzPts val="1800"/>
              <a:buChar char="●"/>
            </a:pPr>
            <a:r>
              <a:rPr lang="en"/>
              <a:t>Answer the questions based on the calculations and graph</a:t>
            </a:r>
            <a:endParaRPr/>
          </a:p>
          <a:p>
            <a:pPr indent="-317500" lvl="1" marL="914400" rtl="0" algn="l">
              <a:spcBef>
                <a:spcPts val="0"/>
              </a:spcBef>
              <a:spcAft>
                <a:spcPts val="0"/>
              </a:spcAft>
              <a:buSzPts val="1400"/>
              <a:buChar char="○"/>
            </a:pPr>
            <a:r>
              <a:rPr lang="en"/>
              <a:t>You will effectively be finding Hubble’s Constant for yourselves, and then using it to estimate the age of the universe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