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880210f9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880210f9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e880210f9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e880210f9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e880210f9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e880210f9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e880210f9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e880210f9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e880210f9b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e880210f9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e880210f9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e880210f9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because those are the ones we can see from here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eb8e6acbc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eb8e6acbc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e880210f9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e880210f9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e880210f9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e880210f9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e880210f9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e880210f9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ec7eee3c3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ec7eee3c3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d9a13ab4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d9a13ab4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d9a13ab4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d9a13ab4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d9a13ab4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d9a13ab4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d9a13ab4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d9a13ab4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hyperlink" Target="https://www.space.com/pleiades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s://utstronomy.wordpress.com/2019/02/04/the-celestial-sphere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hyperlink" Target="https://in-the-sky.org/data/constellations_map.php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hyperlink" Target="https://stellarium-web.org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earthsky.org/astronomy-essentials/what-is-stellar-magnitude/" TargetMode="External"/><Relationship Id="rId6" Type="http://schemas.openxmlformats.org/officeDocument/2006/relationships/hyperlink" Target="https://voyages.sdss.org/preflight/light/magnitudes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Lab 3 is graded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Next week is another night lab (meet here at 7:30 p.m. instead of 3:30 p.m.)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Check the schedule on Canvas for more details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the Night Sky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36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This week we begin to explore the night sky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Observing in the night sky is recorded in the earliest parts of our history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We will focus on patterns that we see in the sky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5328000" y="4743300"/>
            <a:ext cx="381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</a:rPr>
              <a:t>Image Credit: </a:t>
            </a:r>
            <a:r>
              <a:rPr lang="en" sz="700" u="sng">
                <a:solidFill>
                  <a:schemeClr val="hlink"/>
                </a:solidFill>
                <a:hlinkClick r:id="rId4"/>
              </a:rPr>
              <a:t>https://www.space.com/pleiades.html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</a:rPr>
              <a:t>Pleiades - One of my favorites from a cultural astronomy perspective</a:t>
            </a:r>
            <a:endParaRPr sz="7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017725"/>
            <a:ext cx="3688800" cy="37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The night sky is like a sphere surrounding Earth this is called the </a:t>
            </a:r>
            <a:r>
              <a:rPr i="1" lang="en">
                <a:solidFill>
                  <a:schemeClr val="accent2"/>
                </a:solidFill>
              </a:rPr>
              <a:t>Celestial Sphere</a:t>
            </a:r>
            <a:endParaRPr i="1">
              <a:solidFill>
                <a:schemeClr val="accent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We can map things onto this sphere; think “angular size”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The </a:t>
            </a:r>
            <a:r>
              <a:rPr i="1" lang="en">
                <a:solidFill>
                  <a:schemeClr val="accent2"/>
                </a:solidFill>
              </a:rPr>
              <a:t>North Celestial Pole (NCP)</a:t>
            </a:r>
            <a:r>
              <a:rPr lang="en">
                <a:solidFill>
                  <a:schemeClr val="accent2"/>
                </a:solidFill>
              </a:rPr>
              <a:t> is the northern point where Earth’s axis of rotation intersects with the celestial sphere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The “North Star” (Polaris) is located very close to the NCP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0850" y="19588"/>
            <a:ext cx="5104325" cy="51043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0" y="4851000"/>
            <a:ext cx="534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</a:rPr>
              <a:t>Image Credit: </a:t>
            </a:r>
            <a:r>
              <a:rPr lang="en" sz="700" u="sng">
                <a:solidFill>
                  <a:schemeClr val="hlink"/>
                </a:solidFill>
                <a:hlinkClick r:id="rId4"/>
              </a:rPr>
              <a:t>https://utstronomy.wordpress.com/2019/02/04/the-celestial-sphere/</a:t>
            </a:r>
            <a:r>
              <a:rPr lang="en" sz="700">
                <a:solidFill>
                  <a:schemeClr val="lt2"/>
                </a:solidFill>
              </a:rPr>
              <a:t> </a:t>
            </a:r>
            <a:endParaRPr sz="700">
              <a:solidFill>
                <a:schemeClr val="lt2"/>
              </a:solidFill>
            </a:endParaRPr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Celestial Sphere and North Pole</a:t>
            </a:r>
            <a:endParaRPr sz="242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4528200" cy="3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 u="sng">
                <a:solidFill>
                  <a:schemeClr val="accent2"/>
                </a:solidFill>
              </a:rPr>
              <a:t>Constellations</a:t>
            </a:r>
            <a:r>
              <a:rPr lang="en">
                <a:solidFill>
                  <a:schemeClr val="accent2"/>
                </a:solidFill>
              </a:rPr>
              <a:t> = </a:t>
            </a:r>
            <a:r>
              <a:rPr b="1" lang="en">
                <a:solidFill>
                  <a:schemeClr val="accent2"/>
                </a:solidFill>
              </a:rPr>
              <a:t>areas of sky</a:t>
            </a:r>
            <a:r>
              <a:rPr lang="en">
                <a:solidFill>
                  <a:schemeClr val="accent2"/>
                </a:solidFill>
              </a:rPr>
              <a:t> where a group of stars form a recognizable pattern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The entire sky is broken up into 88 constellations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Every point in the sky is part of a constellation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If an object (Moon, planet) is in front of a constellation, it is </a:t>
            </a:r>
            <a:r>
              <a:rPr i="1" lang="en">
                <a:solidFill>
                  <a:schemeClr val="accent2"/>
                </a:solidFill>
              </a:rPr>
              <a:t>within</a:t>
            </a:r>
            <a:r>
              <a:rPr lang="en">
                <a:solidFill>
                  <a:schemeClr val="accent2"/>
                </a:solidFill>
              </a:rPr>
              <a:t> that constellation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Constellations</a:t>
            </a:r>
            <a:endParaRPr sz="2022"/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 b="0" l="32270" r="11246" t="0"/>
          <a:stretch/>
        </p:blipFill>
        <p:spPr>
          <a:xfrm>
            <a:off x="4695244" y="0"/>
            <a:ext cx="4448756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39850" y="4927200"/>
            <a:ext cx="3816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</a:rPr>
              <a:t>Image Credit: </a:t>
            </a:r>
            <a:r>
              <a:rPr lang="en" sz="700" u="sng">
                <a:solidFill>
                  <a:schemeClr val="hlink"/>
                </a:solidFill>
                <a:hlinkClick r:id="rId4"/>
              </a:rPr>
              <a:t>https://in-the-sky.org/data/constellations_map.php</a:t>
            </a:r>
            <a:r>
              <a:rPr lang="en" sz="700">
                <a:solidFill>
                  <a:schemeClr val="lt2"/>
                </a:solidFill>
              </a:rPr>
              <a:t> </a:t>
            </a:r>
            <a:endParaRPr sz="7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</a:t>
            </a:r>
            <a:r>
              <a:rPr lang="en"/>
              <a:t> Constellations</a:t>
            </a:r>
            <a:endParaRPr sz="1578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 u="sng">
                <a:solidFill>
                  <a:schemeClr val="accent2"/>
                </a:solidFill>
              </a:rPr>
              <a:t>Zodiacal Constellations</a:t>
            </a:r>
            <a:r>
              <a:rPr lang="en">
                <a:solidFill>
                  <a:schemeClr val="accent2"/>
                </a:solidFill>
              </a:rPr>
              <a:t> are the set of 13 constellations that the Sun passes through in its apparent path through the sky each year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The 12 Zodiacal Constellations you may be familiar with are: Aries, Taurus, Gemini, Cancer, Leo, Virgo, Libra, Scorpius, Sagittarius, Capricornus, Aquarius, and Pisces</a:t>
            </a:r>
            <a:endParaRPr>
              <a:solidFill>
                <a:schemeClr val="accent2"/>
              </a:solidFill>
              <a:highlight>
                <a:srgbClr val="F2F2F2"/>
              </a:highlight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The 13th that you may not be familiar with is Ophiuchus </a:t>
            </a:r>
            <a:r>
              <a:rPr lang="en" sz="1000">
                <a:solidFill>
                  <a:schemeClr val="accent2"/>
                </a:solidFill>
              </a:rPr>
              <a:t>(thanks Babylonians…)</a:t>
            </a:r>
            <a:endParaRPr sz="1000">
              <a:solidFill>
                <a:schemeClr val="accent2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The ecliptic is the apparent path of the sun in the sky throughout the year - you can find it on your star charts and star wheel!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 Constellations</a:t>
            </a:r>
            <a:r>
              <a:rPr lang="en"/>
              <a:t> </a:t>
            </a:r>
            <a:r>
              <a:rPr lang="en" sz="1578"/>
              <a:t>Cont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6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 u="sng">
                <a:solidFill>
                  <a:schemeClr val="accent2"/>
                </a:solidFill>
              </a:rPr>
              <a:t>Circumpolar Constellations</a:t>
            </a:r>
            <a:r>
              <a:rPr lang="en">
                <a:solidFill>
                  <a:schemeClr val="accent2"/>
                </a:solidFill>
              </a:rPr>
              <a:t> are those which are close enough to the North Celestial Pole (NCP) that they do not set below the horizon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The number of circumpolar constellations is dependent on your location, specifically your latitude</a:t>
            </a:r>
            <a:endParaRPr>
              <a:solidFill>
                <a:schemeClr val="accent2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 sz="1800">
                <a:solidFill>
                  <a:schemeClr val="accent2"/>
                </a:solidFill>
              </a:rPr>
              <a:t>In Tempe, our latitude is 33° - any object that is within 33° of the NCP will be circumpolar for us</a:t>
            </a:r>
            <a:endParaRPr sz="1800">
              <a:solidFill>
                <a:schemeClr val="accent2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</a:pPr>
            <a:r>
              <a:rPr lang="en">
                <a:solidFill>
                  <a:schemeClr val="accent2"/>
                </a:solidFill>
              </a:rPr>
              <a:t>Higher latitude means more circumpolar constellations</a:t>
            </a:r>
            <a:endParaRPr>
              <a:solidFill>
                <a:schemeClr val="accent2"/>
              </a:solidFill>
            </a:endParaRPr>
          </a:p>
          <a:p>
            <a: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</a:pPr>
            <a:r>
              <a:rPr lang="en" sz="1200">
                <a:solidFill>
                  <a:schemeClr val="accent2"/>
                </a:solidFill>
              </a:rPr>
              <a:t>At the equator (latitude 0°), there are none, at the North Pole (latitude 90°), has the most</a:t>
            </a:r>
            <a:endParaRPr sz="12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Circumpolar Constellations </a:t>
            </a:r>
            <a:r>
              <a:rPr b="1" lang="en">
                <a:solidFill>
                  <a:schemeClr val="accent2"/>
                </a:solidFill>
              </a:rPr>
              <a:t>never set</a:t>
            </a:r>
            <a:r>
              <a:rPr lang="en">
                <a:solidFill>
                  <a:schemeClr val="accent2"/>
                </a:solidFill>
              </a:rPr>
              <a:t>, meaning that they are “visible” all day and night! (But they do still rotate)</a:t>
            </a:r>
            <a:endParaRPr>
              <a:solidFill>
                <a:schemeClr val="accen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</a:pPr>
            <a:r>
              <a:rPr lang="en" sz="1600">
                <a:solidFill>
                  <a:schemeClr val="accent2"/>
                </a:solidFill>
              </a:rPr>
              <a:t>Also applies to the southern hemisphere (different constellations), but we are in the northern one so…</a:t>
            </a:r>
            <a:endParaRPr sz="1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Asterisms </a:t>
            </a:r>
            <a:r>
              <a:rPr lang="en" sz="1578"/>
              <a:t>(Patterns in the Sky)</a:t>
            </a:r>
            <a:endParaRPr sz="1578"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48522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Often we don’t point out entire constellations (remember, constellations are </a:t>
            </a:r>
            <a:r>
              <a:rPr i="1" lang="en">
                <a:solidFill>
                  <a:schemeClr val="accent2"/>
                </a:solidFill>
              </a:rPr>
              <a:t>areas of the sky)</a:t>
            </a:r>
            <a:r>
              <a:rPr lang="en">
                <a:solidFill>
                  <a:schemeClr val="accent2"/>
                </a:solidFill>
              </a:rPr>
              <a:t>, instead: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Patterns </a:t>
            </a:r>
            <a:r>
              <a:rPr i="1" lang="en">
                <a:solidFill>
                  <a:schemeClr val="accent2"/>
                </a:solidFill>
              </a:rPr>
              <a:t>within </a:t>
            </a:r>
            <a:r>
              <a:rPr lang="en">
                <a:solidFill>
                  <a:schemeClr val="accent2"/>
                </a:solidFill>
              </a:rPr>
              <a:t>(or across) constellations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Prominent groups of stars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This is called an </a:t>
            </a:r>
            <a:r>
              <a:rPr lang="en" u="sng">
                <a:solidFill>
                  <a:schemeClr val="accent2"/>
                </a:solidFill>
              </a:rPr>
              <a:t>Asterism</a:t>
            </a:r>
            <a:endParaRPr u="sng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Examples: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The Big Dipper (part of Ursa Major)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The Great Square of Pegasus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Technically… The patterns constellations are named for ARE asterisms, but not all asterisms are constellations…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4000" y="445024"/>
            <a:ext cx="3979999" cy="2197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4009" y="2642625"/>
            <a:ext cx="3979990" cy="215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/>
        </p:nvSpPr>
        <p:spPr>
          <a:xfrm>
            <a:off x="4572000" y="4703575"/>
            <a:ext cx="4572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Image Credits: Screenshots from </a:t>
            </a:r>
            <a:r>
              <a:rPr lang="en" sz="1000" u="sng">
                <a:solidFill>
                  <a:schemeClr val="hlink"/>
                </a:solidFill>
                <a:hlinkClick r:id="rId5"/>
              </a:rPr>
              <a:t>https://stellarium-web.org/</a:t>
            </a:r>
            <a:r>
              <a:rPr lang="en" sz="1000">
                <a:solidFill>
                  <a:schemeClr val="lt2"/>
                </a:solidFill>
              </a:rPr>
              <a:t>, </a:t>
            </a:r>
            <a:r>
              <a:rPr lang="en" sz="1000">
                <a:solidFill>
                  <a:schemeClr val="lt2"/>
                </a:solidFill>
              </a:rPr>
              <a:t>edited</a:t>
            </a:r>
            <a:r>
              <a:rPr lang="en" sz="1000">
                <a:solidFill>
                  <a:schemeClr val="lt2"/>
                </a:solidFill>
              </a:rPr>
              <a:t> by author; Stellarium set to Tempe, Az 21:16 Feb. 10 2026</a:t>
            </a:r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4160075" y="1695512"/>
            <a:ext cx="2330350" cy="23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en" sz="1500">
                <a:solidFill>
                  <a:schemeClr val="accent2"/>
                </a:solidFill>
              </a:rPr>
              <a:t>Stars don’t look the same</a:t>
            </a:r>
            <a:endParaRPr sz="1500">
              <a:solidFill>
                <a:schemeClr val="accent2"/>
              </a:solidFill>
            </a:endParaRPr>
          </a:p>
          <a:p>
            <a:pPr indent="-3238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en" sz="1500" u="sng">
                <a:solidFill>
                  <a:schemeClr val="accent2"/>
                </a:solidFill>
              </a:rPr>
              <a:t>Apparent Magnitude</a:t>
            </a:r>
            <a:r>
              <a:rPr lang="en" sz="1500">
                <a:solidFill>
                  <a:schemeClr val="accent2"/>
                </a:solidFill>
              </a:rPr>
              <a:t> is how we describe a celestial object’s brightness</a:t>
            </a:r>
            <a:endParaRPr sz="1500">
              <a:solidFill>
                <a:schemeClr val="accent2"/>
              </a:solidFill>
            </a:endParaRPr>
          </a:p>
          <a:p>
            <a:pPr indent="-3238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en" sz="1500">
                <a:solidFill>
                  <a:schemeClr val="accent2"/>
                </a:solidFill>
              </a:rPr>
              <a:t>The </a:t>
            </a:r>
            <a:r>
              <a:rPr i="1" lang="en" sz="1500">
                <a:solidFill>
                  <a:schemeClr val="accent2"/>
                </a:solidFill>
              </a:rPr>
              <a:t>smaller</a:t>
            </a:r>
            <a:r>
              <a:rPr lang="en" sz="1500">
                <a:solidFill>
                  <a:schemeClr val="accent2"/>
                </a:solidFill>
              </a:rPr>
              <a:t> the magnitude, the </a:t>
            </a:r>
            <a:r>
              <a:rPr i="1" lang="en" sz="1500">
                <a:solidFill>
                  <a:schemeClr val="accent2"/>
                </a:solidFill>
              </a:rPr>
              <a:t>brighter</a:t>
            </a:r>
            <a:r>
              <a:rPr lang="en" sz="1500">
                <a:solidFill>
                  <a:schemeClr val="accent2"/>
                </a:solidFill>
              </a:rPr>
              <a:t> the object is</a:t>
            </a:r>
            <a:endParaRPr sz="1500">
              <a:solidFill>
                <a:schemeClr val="accent2"/>
              </a:solidFill>
            </a:endParaRPr>
          </a:p>
          <a:p>
            <a:pPr indent="-3238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en" sz="1500">
                <a:solidFill>
                  <a:schemeClr val="accent2"/>
                </a:solidFill>
              </a:rPr>
              <a:t>On star charts, etc, Magnitude is denoted by the size of the star in the illustration</a:t>
            </a:r>
            <a:endParaRPr sz="1500">
              <a:solidFill>
                <a:schemeClr val="accent2"/>
              </a:solidFill>
            </a:endParaRPr>
          </a:p>
          <a:p>
            <a:pPr indent="-3238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</a:pPr>
            <a:r>
              <a:rPr lang="en" sz="1500">
                <a:solidFill>
                  <a:schemeClr val="accent2"/>
                </a:solidFill>
              </a:rPr>
              <a:t>The scale is logarithmic - a magnitude 1 star is ~2.5 times brighter than a magnitude 2 star</a:t>
            </a:r>
            <a:endParaRPr sz="1500">
              <a:solidFill>
                <a:schemeClr val="accent2"/>
              </a:solidFill>
            </a:endParaRPr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0431" y="222512"/>
            <a:ext cx="2653569" cy="469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/>
        </p:nvSpPr>
        <p:spPr>
          <a:xfrm>
            <a:off x="18600" y="4814925"/>
            <a:ext cx="91068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</a:rPr>
              <a:t>Image credits: </a:t>
            </a:r>
            <a:r>
              <a:rPr lang="en" sz="1000" u="sng">
                <a:solidFill>
                  <a:schemeClr val="hlink"/>
                </a:solidFill>
                <a:hlinkClick r:id="rId5"/>
              </a:rPr>
              <a:t>https://earthsky.org/astronomy-essentials/what-is-stellar-magnitude/</a:t>
            </a:r>
            <a:r>
              <a:rPr lang="en" sz="1000">
                <a:solidFill>
                  <a:schemeClr val="lt2"/>
                </a:solidFill>
              </a:rPr>
              <a:t> (left) and </a:t>
            </a:r>
            <a:r>
              <a:rPr lang="en" sz="1000" u="sng">
                <a:solidFill>
                  <a:schemeClr val="hlink"/>
                </a:solidFill>
                <a:hlinkClick r:id="rId6"/>
              </a:rPr>
              <a:t>https://voyages.sdss.org/preflight/light/magnitudes/</a:t>
            </a:r>
            <a:r>
              <a:rPr lang="en" sz="1000">
                <a:solidFill>
                  <a:schemeClr val="lt2"/>
                </a:solidFill>
              </a:rPr>
              <a:t> (right)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Magnitudes</a:t>
            </a:r>
            <a:r>
              <a:rPr lang="en"/>
              <a:t> </a:t>
            </a:r>
            <a:r>
              <a:rPr lang="en" sz="1356"/>
              <a:t>(More in future labs - Stellar Magnitude and H-R Diagrams)</a:t>
            </a:r>
            <a:endParaRPr sz="1356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Stellar Nomenclature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u="sng">
                <a:solidFill>
                  <a:schemeClr val="accent2"/>
                </a:solidFill>
              </a:rPr>
              <a:t>Common names</a:t>
            </a:r>
            <a:r>
              <a:rPr lang="en" sz="1700">
                <a:solidFill>
                  <a:schemeClr val="accent2"/>
                </a:solidFill>
              </a:rPr>
              <a:t> are names for the </a:t>
            </a:r>
            <a:r>
              <a:rPr lang="en" sz="1700">
                <a:solidFill>
                  <a:schemeClr val="accent2"/>
                </a:solidFill>
              </a:rPr>
              <a:t>brightest</a:t>
            </a:r>
            <a:r>
              <a:rPr lang="en" sz="1700">
                <a:solidFill>
                  <a:schemeClr val="accent2"/>
                </a:solidFill>
              </a:rPr>
              <a:t> stars (ex: Polaris, Vega, Betelgeuse)</a:t>
            </a:r>
            <a:endParaRPr sz="1100">
              <a:solidFill>
                <a:schemeClr val="accent2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○"/>
            </a:pPr>
            <a:r>
              <a:rPr lang="en" sz="1300">
                <a:solidFill>
                  <a:schemeClr val="accent2"/>
                </a:solidFill>
              </a:rPr>
              <a:t>The number of stars with common names has been increasing as the IAU has started to officially recognize star names from more cultures</a:t>
            </a:r>
            <a:endParaRPr sz="1300">
              <a:solidFill>
                <a:schemeClr val="accen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u="sng">
                <a:solidFill>
                  <a:schemeClr val="accent2"/>
                </a:solidFill>
              </a:rPr>
              <a:t>Proper names</a:t>
            </a:r>
            <a:r>
              <a:rPr lang="en" sz="1700">
                <a:solidFill>
                  <a:schemeClr val="accent2"/>
                </a:solidFill>
              </a:rPr>
              <a:t> consist of two parts: the name of the constellation the star is in and a Greek letter</a:t>
            </a:r>
            <a:endParaRPr sz="1700">
              <a:solidFill>
                <a:schemeClr val="accent2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○"/>
            </a:pPr>
            <a:r>
              <a:rPr lang="en" sz="1300">
                <a:solidFill>
                  <a:schemeClr val="accent2"/>
                </a:solidFill>
              </a:rPr>
              <a:t>The Greek Letter </a:t>
            </a:r>
            <a:r>
              <a:rPr b="1" i="1" lang="en" sz="1300" u="sng">
                <a:solidFill>
                  <a:schemeClr val="accent2"/>
                </a:solidFill>
              </a:rPr>
              <a:t>typically</a:t>
            </a:r>
            <a:r>
              <a:rPr lang="en" sz="1300">
                <a:solidFill>
                  <a:schemeClr val="accent2"/>
                </a:solidFill>
              </a:rPr>
              <a:t> denotes the brightness like a rank: 𝝰 (alpha) is the brightest, ᵦ is the second brightest, etc. </a:t>
            </a:r>
            <a:r>
              <a:rPr lang="en" sz="1100">
                <a:solidFill>
                  <a:schemeClr val="accent2"/>
                </a:solidFill>
              </a:rPr>
              <a:t>(exceptions exist)</a:t>
            </a:r>
            <a:r>
              <a:rPr lang="en" sz="1300">
                <a:solidFill>
                  <a:schemeClr val="accent2"/>
                </a:solidFill>
              </a:rPr>
              <a:t> </a:t>
            </a:r>
            <a:r>
              <a:rPr lang="en" sz="600">
                <a:solidFill>
                  <a:schemeClr val="accent2"/>
                </a:solidFill>
              </a:rPr>
              <a:t>(*cough* Question 6 *cough*)</a:t>
            </a:r>
            <a:endParaRPr sz="600">
              <a:solidFill>
                <a:schemeClr val="accent2"/>
              </a:solidFill>
            </a:endParaRPr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1438" y="3041225"/>
            <a:ext cx="5601124" cy="210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the Star Wheel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The star wheel is a tool to see what the sky will look like at a specific day and time of the year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Spin the wheel so that the date is aligned with the time (Feb 10/11, 8:00 PM)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It is like a map of the stars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The hole in the middle is Polaris (the North Star)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Today: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Do Questions 1-8 now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Then we will go to the roof for the rest of the lab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I have a couple Audubon Guides available to borrow for Questions 5-8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Page 561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But you can also use the Stellarium web or mobile app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Careful with Question 6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It’s an exception to the normal naming convention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After this, we will go to the roof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Stop! Roof Stuff After This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Roof Rules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Bring your stuff with you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We will not be coming back to the classroom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Do not leave the walled in area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Red flashlights only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No white lights except in emergencies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We will be up there with one or more other classes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You can ask me or the other TA(s) if you have any questions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Roof and Sketching Tips</a:t>
            </a:r>
            <a:endParaRPr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311700" y="1152475"/>
            <a:ext cx="8520600" cy="3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Give your eyes time to adjust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Make an attempt at all sketches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I will not be grading you on artistic skill or </a:t>
            </a:r>
            <a:r>
              <a:rPr lang="en">
                <a:solidFill>
                  <a:schemeClr val="accent2"/>
                </a:solidFill>
              </a:rPr>
              <a:t>precision</a:t>
            </a:r>
            <a:endParaRPr>
              <a:solidFill>
                <a:schemeClr val="accent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</a:pPr>
            <a:r>
              <a:rPr lang="en">
                <a:solidFill>
                  <a:schemeClr val="accent2"/>
                </a:solidFill>
              </a:rPr>
              <a:t>As long as you make a genuine attempt and I can tell what you were trying to do, while including the required objects, you will get full credit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Draw what you can see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Not what you think we want you to see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Some of you may have better eyesight and can see more stars than others - draw them</a:t>
            </a:r>
            <a:endParaRPr>
              <a:solidFill>
                <a:schemeClr val="accent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</a:pPr>
            <a:r>
              <a:rPr lang="en">
                <a:solidFill>
                  <a:schemeClr val="accent2"/>
                </a:solidFill>
              </a:rPr>
              <a:t>If you can’t, don’t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If a required object is blocked by a building or cloud - note that (or even draw said cloud/building)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Use the size of dots to represent brightness - the brighter an object, the bigger the dot</a:t>
            </a:r>
            <a:endParaRPr>
              <a:solidFill>
                <a:schemeClr val="accen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</a:pPr>
            <a:r>
              <a:rPr lang="en" sz="1600">
                <a:solidFill>
                  <a:schemeClr val="accent2"/>
                </a:solidFill>
              </a:rPr>
              <a:t>The bottom of the page is the horizon, and the top is straight overhead</a:t>
            </a:r>
            <a:endParaRPr sz="1600">
              <a:solidFill>
                <a:schemeClr val="accen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</a:pPr>
            <a:r>
              <a:rPr lang="en" sz="1600">
                <a:solidFill>
                  <a:schemeClr val="accent2"/>
                </a:solidFill>
              </a:rPr>
              <a:t>Questions 9 and 10: Can also use your star wheel or Stellarium for this information</a:t>
            </a:r>
            <a:endParaRPr sz="1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Required Objects </a:t>
            </a:r>
            <a:r>
              <a:rPr lang="en" sz="1356"/>
              <a:t>in sketches and tables</a:t>
            </a:r>
            <a:endParaRPr sz="1356"/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Constellation Sketch: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Orion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Table 1: 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Sirius, Betelgeuse, Rigel, Polaris, Castor, and Pollux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Table 2: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Jupiter and</a:t>
            </a:r>
            <a:r>
              <a:rPr lang="en">
                <a:solidFill>
                  <a:schemeClr val="accent2"/>
                </a:solidFill>
              </a:rPr>
              <a:t> </a:t>
            </a:r>
            <a:r>
              <a:rPr i="1" lang="en">
                <a:solidFill>
                  <a:schemeClr val="accent2"/>
                </a:solidFill>
              </a:rPr>
              <a:t>maybe</a:t>
            </a:r>
            <a:r>
              <a:rPr i="1" lang="en">
                <a:solidFill>
                  <a:schemeClr val="accent2"/>
                </a:solidFill>
              </a:rPr>
              <a:t> Saturn</a:t>
            </a:r>
            <a:r>
              <a:rPr i="1" lang="en">
                <a:solidFill>
                  <a:schemeClr val="accent2"/>
                </a:solidFill>
              </a:rPr>
              <a:t>*</a:t>
            </a:r>
            <a:endParaRPr i="1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Northern Sky Sketch: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At least: Polaris, Ursa Minor, Cassiopea,</a:t>
            </a:r>
            <a:r>
              <a:rPr i="1" lang="en">
                <a:solidFill>
                  <a:schemeClr val="accent2"/>
                </a:solidFill>
              </a:rPr>
              <a:t> maybe Ursa Major*</a:t>
            </a:r>
            <a:endParaRPr i="1"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Southern Sky Sketch:</a:t>
            </a:r>
            <a:endParaRPr>
              <a:solidFill>
                <a:schemeClr val="accent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</a:pPr>
            <a:r>
              <a:rPr lang="en">
                <a:solidFill>
                  <a:schemeClr val="accent2"/>
                </a:solidFill>
              </a:rPr>
              <a:t>At least: Orion, Taurus, Canis Major*, Canis Minor</a:t>
            </a:r>
            <a:endParaRPr>
              <a:solidFill>
                <a:schemeClr val="accen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If you can see more, draw more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1858800" y="4568875"/>
            <a:ext cx="54264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</a:rPr>
              <a:t>*May be blocked by a building</a:t>
            </a:r>
            <a:endParaRPr sz="10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