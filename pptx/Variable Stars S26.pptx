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1dc616e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1dc616e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1dc616e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1dc616e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1dc616ed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1dc616ed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2d7c4320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2d7c4320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1dc616ed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1dc616ed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1dc616ed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1dc616ed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1dc616ed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1dc616ed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1dc616ed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1dc616ed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1dc616ed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1dc616ed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1dc616ed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1dc616ed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a42958a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a42958a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  <a:defRPr>
                <a:solidFill>
                  <a:srgbClr val="CCCCC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  <a:defRPr>
                <a:solidFill>
                  <a:srgbClr val="CCCCC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  <a:defRPr>
                <a:solidFill>
                  <a:srgbClr val="CCCCC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  <a:defRPr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4D29AA"/>
            </a:gs>
            <a:gs pos="100000">
              <a:srgbClr val="1E123D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zooniverse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Only day labs (3:30 p.m.) left for the semester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All grading should be </a:t>
            </a:r>
            <a:r>
              <a:rPr lang="en">
                <a:solidFill>
                  <a:srgbClr val="CCCCCC"/>
                </a:solidFill>
              </a:rPr>
              <a:t>caught</a:t>
            </a:r>
            <a:r>
              <a:rPr lang="en">
                <a:solidFill>
                  <a:srgbClr val="CCCCCC"/>
                </a:solidFill>
              </a:rPr>
              <a:t> up on by now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Let me know if you have any questions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little late since we are done with the night labs… but please make sure you are writing your lab using what you actually observe - i.e. not planets that are not even above the horizon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Variable Stars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RR Lyraes, </a:t>
            </a:r>
            <a:r>
              <a:rPr lang="en">
                <a:solidFill>
                  <a:srgbClr val="CCCCCC"/>
                </a:solidFill>
              </a:rPr>
              <a:t>Cepheids</a:t>
            </a:r>
            <a:r>
              <a:rPr lang="en">
                <a:solidFill>
                  <a:srgbClr val="CCCCCC"/>
                </a:solidFill>
              </a:rPr>
              <a:t>, and Binaries, oh my</a:t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Variable Stars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Variable stars are stars whose brightness varies cyclically over time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Technically, all stars change as they age</a:t>
            </a:r>
            <a:endParaRPr>
              <a:solidFill>
                <a:srgbClr val="CCCCCC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</a:pPr>
            <a:r>
              <a:rPr lang="en">
                <a:solidFill>
                  <a:srgbClr val="CCCCCC"/>
                </a:solidFill>
              </a:rPr>
              <a:t>But today we are interested in the ones that go through a cycle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CCCCCC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69018"/>
            <a:ext cx="4572000" cy="3383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>
                <a:solidFill>
                  <a:schemeClr val="lt1"/>
                </a:solidFill>
              </a:rPr>
              <a:t>Types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RR Lyrae Stars: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Small (relatively - still several times bigger than the </a:t>
            </a:r>
            <a:r>
              <a:rPr lang="en"/>
              <a:t>Sun)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Change in brightness due to the size changing up and down</a:t>
            </a:r>
            <a:r>
              <a:rPr lang="en">
                <a:solidFill>
                  <a:srgbClr val="CCCCCC"/>
                </a:solidFill>
              </a:rPr>
              <a:t> from</a:t>
            </a:r>
            <a:r>
              <a:rPr lang="en">
                <a:solidFill>
                  <a:srgbClr val="CCCCCC"/>
                </a:solidFill>
              </a:rPr>
              <a:t> internal instability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/>
              <a:t>A</a:t>
            </a:r>
            <a:r>
              <a:rPr lang="en">
                <a:solidFill>
                  <a:srgbClr val="CCCCCC"/>
                </a:solidFill>
              </a:rPr>
              <a:t>ll have an average absolute magnitude of </a:t>
            </a:r>
            <a:r>
              <a:rPr lang="en"/>
              <a:t>around </a:t>
            </a:r>
            <a:r>
              <a:rPr b="1" lang="en">
                <a:solidFill>
                  <a:srgbClr val="CCCCCC"/>
                </a:solidFill>
              </a:rPr>
              <a:t>0.5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Period is </a:t>
            </a:r>
            <a:r>
              <a:rPr lang="en"/>
              <a:t>less than a day</a:t>
            </a:r>
            <a:endParaRPr>
              <a:solidFill>
                <a:srgbClr val="CCCCCC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51420"/>
            <a:ext cx="4572000" cy="364065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" name="Google Shape;76;p16"/>
          <p:cNvSpPr txBox="1"/>
          <p:nvPr/>
        </p:nvSpPr>
        <p:spPr>
          <a:xfrm>
            <a:off x="4572000" y="4392075"/>
            <a:ext cx="45720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</a:rPr>
              <a:t>HR Diagram (next week’s lab) for Variable Stars</a:t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</a:rPr>
              <a:t>HR Diagram: A graph of stars with magnitude (brightness) on the y-axis and temperature (color) on the x-axis</a:t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165" y="0"/>
            <a:ext cx="5163668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>
                <a:solidFill>
                  <a:schemeClr val="lt1"/>
                </a:solidFill>
              </a:rPr>
              <a:t>Types Cont.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Cepheid Variable Stars: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Big (10s to 1</a:t>
            </a:r>
            <a:r>
              <a:rPr lang="en"/>
              <a:t>00s of times more than the Sun)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Change in brightness due to the size changing up and down from internal instability</a:t>
            </a:r>
            <a:r>
              <a:rPr lang="en">
                <a:solidFill>
                  <a:srgbClr val="CCCCCC"/>
                </a:solidFill>
              </a:rPr>
              <a:t> (same mechanism as RR Lyrae)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Absolute Magnitude varies based on size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Period can be 1 day to around 100 days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Importantly: </a:t>
            </a:r>
            <a:r>
              <a:rPr b="1" lang="en">
                <a:solidFill>
                  <a:srgbClr val="CCCCCC"/>
                </a:solidFill>
              </a:rPr>
              <a:t>Their period and luminosity </a:t>
            </a:r>
            <a:r>
              <a:rPr lang="en">
                <a:solidFill>
                  <a:srgbClr val="CCCCCC"/>
                </a:solidFill>
              </a:rPr>
              <a:t>(absolute magnitude)</a:t>
            </a:r>
            <a:r>
              <a:rPr b="1" lang="en">
                <a:solidFill>
                  <a:srgbClr val="CCCCCC"/>
                </a:solidFill>
              </a:rPr>
              <a:t> have a direct relationship</a:t>
            </a:r>
            <a:endParaRPr b="1">
              <a:solidFill>
                <a:srgbClr val="CCCCCC"/>
              </a:solidFill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51420"/>
            <a:ext cx="4572000" cy="364065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" name="Google Shape;91;p18"/>
          <p:cNvSpPr txBox="1"/>
          <p:nvPr/>
        </p:nvSpPr>
        <p:spPr>
          <a:xfrm>
            <a:off x="4572000" y="4392075"/>
            <a:ext cx="45720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</a:rPr>
              <a:t>HR Diagram (next week’s lab) for Variable Stars</a:t>
            </a:r>
            <a:endParaRPr sz="12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CCCC"/>
                </a:solidFill>
              </a:rPr>
              <a:t>HR Diagram: A graph of stars with magnitude (brightness) on the y-axis and temperature (color) on the x-axis</a:t>
            </a:r>
            <a:endParaRPr sz="10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</a:t>
            </a:r>
            <a:r>
              <a:rPr lang="en" sz="2320"/>
              <a:t>angent about the</a:t>
            </a:r>
            <a:r>
              <a:rPr lang="en" sz="2320"/>
              <a:t> Harvard “Computers”</a:t>
            </a:r>
            <a:endParaRPr sz="2320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600"/>
            <a:ext cx="53925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A group of women hired to analyze and catalog astronomical</a:t>
            </a:r>
            <a:r>
              <a:rPr lang="en"/>
              <a:t> data/images</a:t>
            </a:r>
            <a:r>
              <a:rPr lang="en">
                <a:solidFill>
                  <a:srgbClr val="CCCCCC"/>
                </a:solidFill>
              </a:rPr>
              <a:t> from the observatory in the </a:t>
            </a:r>
            <a:r>
              <a:rPr lang="en"/>
              <a:t>late 1800s and early 1900s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They are arguably responsible for much of modern astronomy</a:t>
            </a:r>
            <a:endParaRPr>
              <a:solidFill>
                <a:srgbClr val="CCCCCC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</a:pPr>
            <a:r>
              <a:rPr lang="en">
                <a:solidFill>
                  <a:srgbClr val="CCCCCC"/>
                </a:solidFill>
              </a:rPr>
              <a:t>Including a stellar classification system that     we still use (a modified version of) today 	</a:t>
            </a:r>
            <a:r>
              <a:rPr lang="en" sz="1200"/>
              <a:t>(Annie Jump Cannon, 1922)</a:t>
            </a:r>
            <a:endParaRPr sz="1200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</a:pPr>
            <a:r>
              <a:rPr lang="en">
                <a:solidFill>
                  <a:srgbClr val="CCCCCC"/>
                </a:solidFill>
              </a:rPr>
              <a:t>O,B,A,F,G,K,M    </a:t>
            </a:r>
            <a:endParaRPr>
              <a:solidFill>
                <a:srgbClr val="CCCCCC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</a:pPr>
            <a:r>
              <a:rPr lang="en">
                <a:solidFill>
                  <a:srgbClr val="CCCCCC"/>
                </a:solidFill>
              </a:rPr>
              <a:t>And (relevant to </a:t>
            </a:r>
            <a:r>
              <a:rPr lang="en"/>
              <a:t>this lab) </a:t>
            </a:r>
            <a:r>
              <a:rPr lang="en">
                <a:solidFill>
                  <a:srgbClr val="CCCCCC"/>
                </a:solidFill>
              </a:rPr>
              <a:t>the </a:t>
            </a:r>
            <a:r>
              <a:rPr b="1" lang="en">
                <a:solidFill>
                  <a:srgbClr val="CCCCCC"/>
                </a:solidFill>
              </a:rPr>
              <a:t>Cepheid period-luminosity</a:t>
            </a:r>
            <a:r>
              <a:rPr b="1" lang="en"/>
              <a:t> </a:t>
            </a:r>
            <a:r>
              <a:rPr b="1" lang="en">
                <a:solidFill>
                  <a:srgbClr val="CCCCCC"/>
                </a:solidFill>
              </a:rPr>
              <a:t>relationship</a:t>
            </a:r>
            <a:r>
              <a:rPr lang="en">
                <a:solidFill>
                  <a:srgbClr val="CCCCCC"/>
                </a:solidFill>
              </a:rPr>
              <a:t> </a:t>
            </a:r>
            <a:r>
              <a:rPr lang="en" sz="1200">
                <a:solidFill>
                  <a:srgbClr val="CCCCCC"/>
                </a:solidFill>
              </a:rPr>
              <a:t>(Henrietta   Leavitt, 1908)</a:t>
            </a:r>
            <a:endParaRPr sz="1200">
              <a:solidFill>
                <a:srgbClr val="CCCCCC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</a:pPr>
            <a:r>
              <a:rPr lang="en">
                <a:solidFill>
                  <a:srgbClr val="CCCCCC"/>
                </a:solidFill>
              </a:rPr>
              <a:t>This was the first way we had to  </a:t>
            </a:r>
            <a:r>
              <a:rPr lang="en">
                <a:solidFill>
                  <a:srgbClr val="CCCCCC"/>
                </a:solidFill>
              </a:rPr>
              <a:t>determine</a:t>
            </a:r>
            <a:r>
              <a:rPr lang="en">
                <a:solidFill>
                  <a:srgbClr val="CCCCCC"/>
                </a:solidFill>
              </a:rPr>
              <a:t> the distance to        astronomical objects other than      parallax</a:t>
            </a:r>
            <a:endParaRPr>
              <a:solidFill>
                <a:srgbClr val="CCCCCC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●"/>
            </a:pPr>
            <a:r>
              <a:rPr lang="en">
                <a:solidFill>
                  <a:srgbClr val="CCCCCC"/>
                </a:solidFill>
              </a:rPr>
              <a:t>It further influenced the creation of Hubble’s Law (last lab of semester)</a:t>
            </a:r>
            <a:endParaRPr>
              <a:solidFill>
                <a:srgbClr val="CCCCCC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4075" y="0"/>
            <a:ext cx="3439925" cy="2690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8481" y="2690025"/>
            <a:ext cx="3925519" cy="24534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0" name="Google Shape;100;p19"/>
          <p:cNvSpPr txBox="1"/>
          <p:nvPr/>
        </p:nvSpPr>
        <p:spPr>
          <a:xfrm>
            <a:off x="127150" y="3943350"/>
            <a:ext cx="18012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</a:rPr>
              <a:t>For more: look into the play </a:t>
            </a:r>
            <a:r>
              <a:rPr i="1" lang="en" sz="1200">
                <a:solidFill>
                  <a:srgbClr val="B7B7B7"/>
                </a:solidFill>
              </a:rPr>
              <a:t>Silent Sky</a:t>
            </a:r>
            <a:r>
              <a:rPr lang="en" sz="1200">
                <a:solidFill>
                  <a:srgbClr val="B7B7B7"/>
                </a:solidFill>
              </a:rPr>
              <a:t> by Lauren Gunderson</a:t>
            </a:r>
            <a:endParaRPr sz="1200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</a:t>
            </a:r>
            <a:r>
              <a:rPr lang="en">
                <a:solidFill>
                  <a:schemeClr val="lt1"/>
                </a:solidFill>
              </a:rPr>
              <a:t>Types Cont.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465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</a:pPr>
            <a:r>
              <a:rPr lang="en">
                <a:solidFill>
                  <a:srgbClr val="CCCCCC"/>
                </a:solidFill>
              </a:rPr>
              <a:t>Eclipsing</a:t>
            </a:r>
            <a:r>
              <a:rPr lang="en">
                <a:solidFill>
                  <a:srgbClr val="CCCCCC"/>
                </a:solidFill>
              </a:rPr>
              <a:t> Binaries: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Any size</a:t>
            </a:r>
            <a:endParaRPr>
              <a:solidFill>
                <a:srgbClr val="CCCCCC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■"/>
            </a:pPr>
            <a:r>
              <a:rPr lang="en">
                <a:solidFill>
                  <a:srgbClr val="CCCCCC"/>
                </a:solidFill>
              </a:rPr>
              <a:t>2 star binary (or more!) system</a:t>
            </a:r>
            <a:endParaRPr>
              <a:solidFill>
                <a:srgbClr val="CCCCCC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Char char="○"/>
            </a:pPr>
            <a:r>
              <a:rPr lang="en">
                <a:solidFill>
                  <a:srgbClr val="CCCCCC"/>
                </a:solidFill>
              </a:rPr>
              <a:t>Brightness changes due as the stars pass in front of </a:t>
            </a:r>
            <a:r>
              <a:rPr lang="en">
                <a:solidFill>
                  <a:srgbClr val="CCCCCC"/>
                </a:solidFill>
              </a:rPr>
              <a:t>each other</a:t>
            </a:r>
            <a:r>
              <a:rPr lang="en">
                <a:solidFill>
                  <a:srgbClr val="CCCCCC"/>
                </a:solidFill>
              </a:rPr>
              <a:t> </a:t>
            </a:r>
            <a:r>
              <a:rPr lang="en" sz="1200">
                <a:solidFill>
                  <a:srgbClr val="CCCCCC"/>
                </a:solidFill>
              </a:rPr>
              <a:t>(from our perspective</a:t>
            </a:r>
            <a:r>
              <a:rPr lang="en" sz="1200"/>
              <a:t>) </a:t>
            </a:r>
            <a:r>
              <a:rPr lang="en">
                <a:solidFill>
                  <a:srgbClr val="CCCCCC"/>
                </a:solidFill>
              </a:rPr>
              <a:t>blocking some of the light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similar to one of the most effective ways of finding exoplanets </a:t>
            </a:r>
            <a:r>
              <a:rPr lang="en" sz="1100"/>
              <a:t>(planets around other stars) (see exoplanets lab in AST 111)</a:t>
            </a:r>
            <a:endParaRPr sz="15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fact, one of the hardest parts of finding </a:t>
            </a:r>
            <a:r>
              <a:rPr lang="en"/>
              <a:t>exoplanets</a:t>
            </a:r>
            <a:r>
              <a:rPr lang="en"/>
              <a:t> is figuring out if you are looking at a star with a planet, a variable star, or even both at once </a:t>
            </a:r>
            <a:r>
              <a:rPr lang="en" sz="1200"/>
              <a:t>(or something else i.e. sunspots)</a:t>
            </a:r>
            <a:endParaRPr sz="1200"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8725" y="2527450"/>
            <a:ext cx="4175275" cy="2616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8725" y="0"/>
            <a:ext cx="4175275" cy="2751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“Light Curve” and How to Read Them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curve in this context is a mathy word for a shape on a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case, showing brightness/luminosity/magnitude on the y-axis and time on the x-axis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 you can see how the star changes over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read them, look for a cycle - two identical points on the graph </a:t>
            </a:r>
            <a:r>
              <a:rPr lang="en" sz="1400"/>
              <a:t>(usually the brightest or dimmest points, depending on the graph)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time between these points is the “period” or how long one cycle lasts</a:t>
            </a:r>
            <a:endParaRPr sz="1400"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287" y="2980150"/>
            <a:ext cx="4999425" cy="216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Cepheid Period-Luminosity Relationship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is similar to a light curve, but the x-axis is the period instead of total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use it: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Get the period from the light curve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it on the x-axis 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y-value does that spot have on the line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That is the absolute magnitude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52850"/>
            <a:ext cx="4571925" cy="258187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4572000" y="3934725"/>
            <a:ext cx="457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</a:rPr>
              <a:t>This graph is also in your lab script and is very important for completing this lab</a:t>
            </a:r>
            <a:endParaRPr sz="1200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 and Magnitude Reminders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Magnitude is a reversed scale - smaller numbers (including negative) are brighter than bigger numbers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Distance Modulus: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				 Solve for distance, 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825" y="2436838"/>
            <a:ext cx="1572694" cy="269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0825" y="2168775"/>
            <a:ext cx="1925570" cy="269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850367"/>
            <a:ext cx="4076700" cy="229313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3" name="Google Shape;13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6700" y="2479619"/>
            <a:ext cx="5067300" cy="26638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152475"/>
            <a:ext cx="8520600" cy="3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questions 1-3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Fill out the table using the light curves found on the last 3 pages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every cell will be used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Look at your answers to question 1 to determine which to use for each light curve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finish the remaining questions (4-12)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en" u="sng"/>
              <a:t>Extra Credit Opportunity: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 to “</a:t>
            </a:r>
            <a:r>
              <a:rPr lang="en" u="sng">
                <a:solidFill>
                  <a:schemeClr val="hlink"/>
                </a:solidFill>
                <a:hlinkClick r:id="rId3"/>
              </a:rPr>
              <a:t>zooniverse.org</a:t>
            </a:r>
            <a:r>
              <a:rPr lang="en"/>
              <a:t>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 to “Projects” and search “SuperWASP”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at least 15 classifications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Attach</a:t>
            </a:r>
            <a:r>
              <a:rPr lang="en"/>
              <a:t> to your lab (or email me):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Screenshot of your profile stats page showing the number of classifications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paragraph description of what you thought of the project (i.e. was it interesting, did it help your understanding of variable stars, etc)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