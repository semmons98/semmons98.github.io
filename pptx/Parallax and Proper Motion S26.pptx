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bc63cd8b3f_0_1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bc63cd8b3f_0_1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c63cd8b3f_0_18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c63cd8b3f_0_1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credit: Wikipedia, Jan. 29 2026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c63cd8b3f_0_1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c63cd8b3f_0_1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difference between the tallest actor, and the shortest actor in that image is 6” (6’1” vs 5’7”)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credit: Lord of the Rings: Fellowship of the Ring (characters), JPL (three </a:t>
            </a:r>
            <a:r>
              <a:rPr lang="en"/>
              <a:t>eclipses</a:t>
            </a:r>
            <a:r>
              <a:rPr lang="en"/>
              <a:t>), Business Insider (Martian Eclipse), Stig’s Sky Calendar (Diagram) - all Feb. 2 2026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c63cd8b3f_0_18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c63cd8b3f_0_18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c63cd8b3f_0_18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c63cd8b3f_0_1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Credit: Lab Script (White Background), Cosmos at Your Doorstep (Black background) - Both Jan, 29 2026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bc6b57fda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bc6b57fda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credit: Encyclopedia Britannica (Gaia), myself (equation) - both Jan. 29 2026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c63cd8b3f_0_18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c63cd8b3f_0_18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credit: Universe Today - Jan. 29 2026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c63cd8b3f_0_18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bc63cd8b3f_0_18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bd0ac1687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bd0ac1687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c6b57fd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c6b57fd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Image credit: University of Oregon (Big Dipper) and Wikipedia (diagram) - both Feb. 2 2026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bce47cfab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bce47cfab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c2f5a8affc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c2f5a8affc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35425" y="403200"/>
            <a:ext cx="6763500" cy="85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713225" y="1262700"/>
            <a:ext cx="7130700" cy="281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AutoNum type="arabicPeriod"/>
              <a:defRPr sz="13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AutoNum type="alphaLcPeriod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AutoNum type="romanLcPeriod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AutoNum type="arabicPeriod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AutoNum type="alphaLcPeriod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AutoNum type="romanLcPeriod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AutoNum type="arabicPeriod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AutoNum type="alphaLcPeriod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Muli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rgbClr val="F5D0D0"/>
            </a:gs>
            <a:gs pos="100000">
              <a:srgbClr val="D96868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3.png"/><Relationship Id="rId5" Type="http://schemas.openxmlformats.org/officeDocument/2006/relationships/image" Target="../media/image9.png"/><Relationship Id="rId6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Announcements</a:t>
            </a:r>
            <a:endParaRPr/>
          </a:p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Lab 2 is graded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Next week is the first night lab!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Intro to the Night Sky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Meet here (normal classroom) at 7:30 - Make sure to be on time, roof access is complicated right now due to construction</a:t>
            </a:r>
            <a:r>
              <a:rPr lang="en">
                <a:solidFill>
                  <a:schemeClr val="dk1"/>
                </a:solidFill>
              </a:rPr>
              <a:t>…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Remember</a:t>
            </a:r>
            <a:r>
              <a:rPr lang="en">
                <a:solidFill>
                  <a:schemeClr val="dk1"/>
                </a:solidFill>
              </a:rPr>
              <a:t> to bring your starwheel and (if desired) a red flashlight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Strongly </a:t>
            </a:r>
            <a:r>
              <a:rPr lang="en">
                <a:solidFill>
                  <a:schemeClr val="dk1"/>
                </a:solidFill>
              </a:rPr>
              <a:t>recommend</a:t>
            </a:r>
            <a:r>
              <a:rPr lang="en">
                <a:solidFill>
                  <a:schemeClr val="dk1"/>
                </a:solidFill>
              </a:rPr>
              <a:t> printing this one so you don’t use your laptop/tablet on the roof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Also some sketches that will be a lot easier to do by hand</a:t>
            </a:r>
            <a:endParaRPr>
              <a:solidFill>
                <a:schemeClr val="dk1"/>
              </a:solidFill>
            </a:endParaRPr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>
                <a:solidFill>
                  <a:schemeClr val="dk1"/>
                </a:solidFill>
              </a:rPr>
              <a:t>Though I will give credit for almost anything better than the AI generated ASCII art of the </a:t>
            </a:r>
            <a:r>
              <a:rPr lang="en">
                <a:solidFill>
                  <a:schemeClr val="dk1"/>
                </a:solidFill>
              </a:rPr>
              <a:t>southern</a:t>
            </a:r>
            <a:r>
              <a:rPr lang="en">
                <a:solidFill>
                  <a:schemeClr val="dk1"/>
                </a:solidFill>
              </a:rPr>
              <a:t> (hemisphere) sky I saw last semester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 will send a reminder announcement in Canvas day of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Parallax and Proper Motion</a:t>
            </a:r>
            <a:endParaRPr/>
          </a:p>
        </p:txBody>
      </p:sp>
      <p:sp>
        <p:nvSpPr>
          <p:cNvPr id="64" name="Google Shape;64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78"/>
              <a:t>(Linear)</a:t>
            </a:r>
            <a:r>
              <a:rPr lang="en"/>
              <a:t> </a:t>
            </a:r>
            <a:r>
              <a:rPr lang="en"/>
              <a:t>Distance in Astronomy</a:t>
            </a:r>
            <a:endParaRPr/>
          </a:p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11700" y="1152475"/>
            <a:ext cx="5452800" cy="36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Astronomical Unit (AU) = distance between Earth and the Sun = 150 billion meters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Lightyear (ly) = the distance light travels in one (Earth) year = 64321 AU = 9.5 quadrillion meters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300 million meters per second (speed of light) times 31.5 million seconds (one year)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Unit of </a:t>
            </a:r>
            <a:r>
              <a:rPr b="1" i="1" lang="en" u="sng">
                <a:solidFill>
                  <a:schemeClr val="dk1"/>
                </a:solidFill>
              </a:rPr>
              <a:t>distance</a:t>
            </a:r>
            <a:r>
              <a:rPr lang="en">
                <a:solidFill>
                  <a:schemeClr val="dk1"/>
                </a:solidFill>
              </a:rPr>
              <a:t> (or length, if you prefer)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Parsec (pc) = 3.26 </a:t>
            </a:r>
            <a:r>
              <a:rPr lang="en">
                <a:solidFill>
                  <a:schemeClr val="dk1"/>
                </a:solidFill>
              </a:rPr>
              <a:t>light years</a:t>
            </a:r>
            <a:r>
              <a:rPr lang="en">
                <a:solidFill>
                  <a:schemeClr val="dk1"/>
                </a:solidFill>
              </a:rPr>
              <a:t> = 206265 AU = 30 quadrillion meters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Comes from parallax - part of what we are doing today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Name is a portmanteau of “parallax” and “arcsecond”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71" name="Google Shape;7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4516" y="0"/>
            <a:ext cx="337948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5156" y="2949200"/>
            <a:ext cx="2206194" cy="16525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7" name="Google Shape;7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2250" y="3184475"/>
            <a:ext cx="3391750" cy="14172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78"/>
              <a:t>(Angular)</a:t>
            </a:r>
            <a:r>
              <a:rPr lang="en"/>
              <a:t> Distance in Astronomy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90200" cy="16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In astronomy, we often talk about the size of things in terms of how big they appear to be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Think of it as yourself being one point in a triangle, the </a:t>
            </a:r>
            <a:r>
              <a:rPr lang="en" sz="1500">
                <a:solidFill>
                  <a:schemeClr val="dk1"/>
                </a:solidFill>
              </a:rPr>
              <a:t>edges</a:t>
            </a:r>
            <a:r>
              <a:rPr lang="en" sz="1500">
                <a:solidFill>
                  <a:schemeClr val="dk1"/>
                </a:solidFill>
              </a:rPr>
              <a:t> of the object you are looking at are the other two</a:t>
            </a:r>
            <a:endParaRPr sz="1500">
              <a:solidFill>
                <a:schemeClr val="dk1"/>
              </a:solidFill>
            </a:endParaRPr>
          </a:p>
          <a:p>
            <a:pPr indent="-301625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○"/>
            </a:pPr>
            <a:r>
              <a:rPr lang="en" sz="1150">
                <a:solidFill>
                  <a:schemeClr val="dk1"/>
                </a:solidFill>
              </a:rPr>
              <a:t>The angle of that triangle is the angular size/distance</a:t>
            </a:r>
            <a:endParaRPr sz="1150">
              <a:solidFill>
                <a:schemeClr val="dk1"/>
              </a:solidFill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" sz="1200">
                <a:solidFill>
                  <a:schemeClr val="dk1"/>
                </a:solidFill>
              </a:rPr>
              <a:t>This will come up more in later labs</a:t>
            </a:r>
            <a:endParaRPr sz="1200">
              <a:solidFill>
                <a:schemeClr val="dk1"/>
              </a:solidFill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" sz="1200">
                <a:solidFill>
                  <a:schemeClr val="dk1"/>
                </a:solidFill>
              </a:rPr>
              <a:t>Units - degrees are broken into arcminutes and then arcseconds</a:t>
            </a:r>
            <a:endParaRPr sz="1200">
              <a:solidFill>
                <a:schemeClr val="dk1"/>
              </a:solidFill>
            </a:endParaRPr>
          </a:p>
          <a:p>
            <a:pPr indent="-3048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</a:pPr>
            <a:r>
              <a:rPr lang="en" sz="1200">
                <a:solidFill>
                  <a:schemeClr val="dk1"/>
                </a:solidFill>
              </a:rPr>
              <a:t>1 degree (°) = 60 arcminutes (‘) = 60 arcseconds (“)</a:t>
            </a:r>
            <a:endParaRPr sz="1200">
              <a:solidFill>
                <a:schemeClr val="dk1"/>
              </a:solidFill>
            </a:endParaRPr>
          </a:p>
        </p:txBody>
      </p:sp>
      <p:cxnSp>
        <p:nvCxnSpPr>
          <p:cNvPr id="80" name="Google Shape;80;p17"/>
          <p:cNvCxnSpPr/>
          <p:nvPr/>
        </p:nvCxnSpPr>
        <p:spPr>
          <a:xfrm rot="10800000">
            <a:off x="8487700" y="4338350"/>
            <a:ext cx="77100" cy="410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" name="Google Shape;81;p17"/>
          <p:cNvSpPr txBox="1"/>
          <p:nvPr/>
        </p:nvSpPr>
        <p:spPr>
          <a:xfrm>
            <a:off x="8324000" y="4601750"/>
            <a:ext cx="8199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Tallest actor in the scene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82" name="Google Shape;82;p17"/>
          <p:cNvSpPr txBox="1"/>
          <p:nvPr/>
        </p:nvSpPr>
        <p:spPr>
          <a:xfrm>
            <a:off x="5752250" y="4601700"/>
            <a:ext cx="25716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Often used in film to make certain actors or objects look bigger/smaller than they actually are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38900" y="1906600"/>
            <a:ext cx="3005101" cy="129357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4" name="Google Shape;84;p17"/>
          <p:cNvSpPr txBox="1"/>
          <p:nvPr/>
        </p:nvSpPr>
        <p:spPr>
          <a:xfrm>
            <a:off x="4655150" y="4617150"/>
            <a:ext cx="10974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Martian Solar Eclipse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83587" y="2628300"/>
            <a:ext cx="5860313" cy="1988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86" name="Google Shape;86;p17"/>
          <p:cNvSpPr txBox="1"/>
          <p:nvPr/>
        </p:nvSpPr>
        <p:spPr>
          <a:xfrm>
            <a:off x="311700" y="2628300"/>
            <a:ext cx="4204200" cy="22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The other way to think about this is “forced perspective”, things look smaller when they are further away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The Sun is ~400 times wider than the Moon, it’s also ~400 times further away, so they both </a:t>
            </a:r>
            <a:r>
              <a:rPr b="1" i="1" lang="en" sz="1800" u="sng">
                <a:solidFill>
                  <a:schemeClr val="dk1"/>
                </a:solidFill>
              </a:rPr>
              <a:t>appear</a:t>
            </a:r>
            <a:r>
              <a:rPr lang="en" sz="1800">
                <a:solidFill>
                  <a:schemeClr val="dk1"/>
                </a:solidFill>
              </a:rPr>
              <a:t> the same size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Apparent Motion and Parallax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152475"/>
            <a:ext cx="5358300" cy="369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way something </a:t>
            </a:r>
            <a:r>
              <a:rPr i="1" lang="en">
                <a:solidFill>
                  <a:schemeClr val="dk1"/>
                </a:solidFill>
              </a:rPr>
              <a:t>appears</a:t>
            </a:r>
            <a:r>
              <a:rPr lang="en">
                <a:solidFill>
                  <a:schemeClr val="dk1"/>
                </a:solidFill>
              </a:rPr>
              <a:t> to move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Due to things other than its movement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Close one eye, hold your arm out and cover the star with your thumb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Now switch eyes</a:t>
            </a:r>
            <a:endParaRPr sz="14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Still covered?</a:t>
            </a:r>
            <a:endParaRPr sz="10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That “apparent motion” is parallax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Can also demonstrate with a pen or pencil held close to your face</a:t>
            </a:r>
            <a:endParaRPr sz="1400">
              <a:solidFill>
                <a:schemeClr val="dk1"/>
              </a:solidFill>
            </a:endParaRPr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</a:pPr>
            <a:r>
              <a:rPr lang="en" sz="1000">
                <a:solidFill>
                  <a:schemeClr val="dk1"/>
                </a:solidFill>
              </a:rPr>
              <a:t>With both eyes, you may or may not see double - try switching between eyes to see if it moves</a:t>
            </a:r>
            <a:endParaRPr sz="10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Because you have 2 eyes with a small distance between them - they don’t see quite the same things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93" name="Google Shape;93;p18"/>
          <p:cNvSpPr/>
          <p:nvPr/>
        </p:nvSpPr>
        <p:spPr>
          <a:xfrm>
            <a:off x="6279900" y="1839775"/>
            <a:ext cx="2254200" cy="2041800"/>
          </a:xfrm>
          <a:prstGeom prst="star4">
            <a:avLst>
              <a:gd fmla="val 12500" name="adj"/>
            </a:avLst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Parallax </a:t>
            </a:r>
            <a:r>
              <a:rPr lang="en" sz="1578"/>
              <a:t>in Astronomy</a:t>
            </a:r>
            <a:endParaRPr sz="1578"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5350800" cy="124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Instead of the distance between your eyes, </a:t>
            </a:r>
            <a:r>
              <a:rPr lang="en">
                <a:solidFill>
                  <a:schemeClr val="dk1"/>
                </a:solidFill>
              </a:rPr>
              <a:t>it's</a:t>
            </a:r>
            <a:r>
              <a:rPr lang="en">
                <a:solidFill>
                  <a:schemeClr val="dk1"/>
                </a:solidFill>
              </a:rPr>
              <a:t> the distance between two ends of Earth’s orbit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So 2 AU instead of a few centimeters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Closer stars “move” more than further ones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92585" y="2325300"/>
            <a:ext cx="1069865" cy="70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032396"/>
            <a:ext cx="5662451" cy="211110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02" name="Google Shape;102;p19"/>
          <p:cNvSpPr txBox="1"/>
          <p:nvPr/>
        </p:nvSpPr>
        <p:spPr>
          <a:xfrm>
            <a:off x="311700" y="2325175"/>
            <a:ext cx="43974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Distance (in pc) is equal to 1 divided by the angle (in arcseconds)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03" name="Google Shape;103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662444" y="1"/>
            <a:ext cx="3481555" cy="5143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en"/>
              <a:t>Parallax </a:t>
            </a:r>
            <a:r>
              <a:rPr lang="en" sz="1578"/>
              <a:t>in Astronomy</a:t>
            </a:r>
            <a:r>
              <a:rPr lang="en" sz="2800"/>
              <a:t> Cont.</a:t>
            </a:r>
            <a:endParaRPr sz="2800"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8520600" cy="190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Too small to see with the naked eye</a:t>
            </a:r>
            <a:endParaRPr sz="17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↑ Why the Ancient Greeks thought the Earth didn’t move (Geocentrism)</a:t>
            </a:r>
            <a:endParaRPr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With telescopes, we can use it to measure the distance to stars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Max distance with current telescopes (Gaia) is about 125000 pc - hypothetically</a:t>
            </a:r>
            <a:endParaRPr sz="17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i="1" lang="en" u="sng">
                <a:solidFill>
                  <a:schemeClr val="dk1"/>
                </a:solidFill>
              </a:rPr>
              <a:t>Actually reliable distance</a:t>
            </a:r>
            <a:r>
              <a:rPr lang="en">
                <a:solidFill>
                  <a:schemeClr val="dk1"/>
                </a:solidFill>
              </a:rPr>
              <a:t>: ~10000 pc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Only a third of the Milky Way’s full diameter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0" name="Google Shape;11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0569" y="2571750"/>
            <a:ext cx="3433430" cy="25717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1" name="Google Shape;111;p20"/>
          <p:cNvSpPr txBox="1"/>
          <p:nvPr/>
        </p:nvSpPr>
        <p:spPr>
          <a:xfrm>
            <a:off x="4423025" y="4570725"/>
            <a:ext cx="1287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Gaia Space Telescope →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(artist’s rendition)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12" name="Google Shape;112;p20"/>
          <p:cNvSpPr txBox="1"/>
          <p:nvPr/>
        </p:nvSpPr>
        <p:spPr>
          <a:xfrm>
            <a:off x="311700" y="2797150"/>
            <a:ext cx="5398800" cy="17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In addition to telescope capabilities, baseline distance also matters</a:t>
            </a:r>
            <a:endParaRPr sz="1700"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2 AU for the Earth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Increase in max parallax distance is </a:t>
            </a:r>
            <a:r>
              <a:rPr b="1" i="1" lang="en" u="sng">
                <a:solidFill>
                  <a:schemeClr val="dk1"/>
                </a:solidFill>
              </a:rPr>
              <a:t>directly proportional</a:t>
            </a:r>
            <a:r>
              <a:rPr lang="en">
                <a:solidFill>
                  <a:schemeClr val="dk1"/>
                </a:solidFill>
              </a:rPr>
              <a:t> to baseline distance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Or trigonometry!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3" name="Google Shape;113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4100" y="4195700"/>
            <a:ext cx="1598925" cy="9477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4" name="Google Shape;114;p20"/>
          <p:cNvSpPr txBox="1"/>
          <p:nvPr/>
        </p:nvSpPr>
        <p:spPr>
          <a:xfrm>
            <a:off x="3011400" y="3240200"/>
            <a:ext cx="1287600" cy="2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">
                <a:solidFill>
                  <a:schemeClr val="dk1"/>
                </a:solidFill>
              </a:rPr>
              <a:t>*cough* Question 18 *cough*</a:t>
            </a:r>
            <a:endParaRPr sz="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2285995"/>
            <a:ext cx="4572001" cy="285750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0" name="Google Shape;12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Cosmic Distance Ladder</a:t>
            </a:r>
            <a:endParaRPr/>
          </a:p>
        </p:txBody>
      </p:sp>
      <p:sp>
        <p:nvSpPr>
          <p:cNvPr id="121" name="Google Shape;121;p21"/>
          <p:cNvSpPr txBox="1"/>
          <p:nvPr>
            <p:ph idx="1" type="body"/>
          </p:nvPr>
        </p:nvSpPr>
        <p:spPr>
          <a:xfrm>
            <a:off x="311700" y="1152475"/>
            <a:ext cx="8520600" cy="79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Current best parallax only gets us a third of the way </a:t>
            </a:r>
            <a:r>
              <a:rPr lang="en">
                <a:solidFill>
                  <a:schemeClr val="dk1"/>
                </a:solidFill>
              </a:rPr>
              <a:t>across</a:t>
            </a:r>
            <a:r>
              <a:rPr lang="en">
                <a:solidFill>
                  <a:schemeClr val="dk1"/>
                </a:solidFill>
              </a:rPr>
              <a:t> the Milky Way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So how to we now about the distance to things outside of it?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11700" y="2873250"/>
            <a:ext cx="4260300" cy="212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Not hugely important for this lab, but we will come back to it (or something similar) for </a:t>
            </a:r>
            <a:r>
              <a:rPr b="1" i="1" lang="en" u="sng">
                <a:solidFill>
                  <a:schemeClr val="dk1"/>
                </a:solidFill>
              </a:rPr>
              <a:t>5</a:t>
            </a:r>
            <a:r>
              <a:rPr lang="en">
                <a:solidFill>
                  <a:schemeClr val="dk1"/>
                </a:solidFill>
              </a:rPr>
              <a:t> more labs this semester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Magnitudes and Stellar Brightness, Variable Stars, H-R Diagrams, Open Clusters, Hubble Expansion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700" y="1774650"/>
            <a:ext cx="4260300" cy="1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Notice how the different methods overlap</a:t>
            </a:r>
            <a:endParaRPr>
              <a:solidFill>
                <a:schemeClr val="dk1"/>
              </a:solidFill>
            </a:endParaRPr>
          </a:p>
          <a:p>
            <a:pPr indent="-318135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0"/>
              <a:buChar char="○"/>
            </a:pPr>
            <a:r>
              <a:rPr lang="en" sz="1410">
                <a:solidFill>
                  <a:schemeClr val="dk1"/>
                </a:solidFill>
              </a:rPr>
              <a:t>This is how we “calibrate” each one from biggest to smallest</a:t>
            </a:r>
            <a:endParaRPr sz="141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 </a:t>
            </a:r>
            <a:r>
              <a:rPr lang="en" sz="1578"/>
              <a:t>(Exercise 1: Parallax) (1 hour-ish?)</a:t>
            </a:r>
            <a:endParaRPr sz="1578"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Lots of math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Especially unit conversions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Feel free to use a calculator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Show work for guaranteed at least partial credit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Question 7: Don’t worry </a:t>
            </a:r>
            <a:r>
              <a:rPr lang="en">
                <a:solidFill>
                  <a:schemeClr val="dk1"/>
                </a:solidFill>
              </a:rPr>
              <a:t>about</a:t>
            </a:r>
            <a:r>
              <a:rPr lang="en">
                <a:solidFill>
                  <a:schemeClr val="dk1"/>
                </a:solidFill>
              </a:rPr>
              <a:t> showing work, the answer is in the definition of a parsec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Questions 8-10: can use a ruler or just make a best estimate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Question</a:t>
            </a:r>
            <a:r>
              <a:rPr lang="en">
                <a:solidFill>
                  <a:schemeClr val="dk1"/>
                </a:solidFill>
              </a:rPr>
              <a:t> 12: Parallax of Alpha Centauri</a:t>
            </a:r>
            <a:r>
              <a:rPr lang="en" sz="1400">
                <a:solidFill>
                  <a:schemeClr val="dk1"/>
                </a:solidFill>
              </a:rPr>
              <a:t> (Also in lab script) </a:t>
            </a:r>
            <a:r>
              <a:rPr lang="en">
                <a:solidFill>
                  <a:schemeClr val="dk1"/>
                </a:solidFill>
              </a:rPr>
              <a:t>= .75 arcsec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Question 18: Two ways to solve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Small angle approximation: sin(𝛳) ≈ </a:t>
            </a:r>
            <a:r>
              <a:rPr lang="en">
                <a:solidFill>
                  <a:schemeClr val="dk1"/>
                </a:solidFill>
              </a:rPr>
              <a:t>𝛳 and tan(𝛳) ≈ 𝛳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Makes trigonometry a lot easier/simpler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This is what the question means by “Assume small angles.”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Proportionality (ratios)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11700" y="2312850"/>
            <a:ext cx="8520600" cy="52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STOP; END OF PART 1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Proper Motion</a:t>
            </a:r>
            <a:endParaRPr/>
          </a:p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Actual movement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But angles cause issues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We don’t actually see the full movement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If it’s coming straight at (or away from) you, you won’t see any movement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If it’s moving 90° relative to you, then you can see all the movement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So it’s actually usually moving faster than you can see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41" name="Google Shape;14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85480" y="2748980"/>
            <a:ext cx="3598325" cy="2394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0200" y="2748975"/>
            <a:ext cx="3625274" cy="2394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Starry Night and a Spreadsheet</a:t>
            </a:r>
            <a:endParaRPr/>
          </a:p>
        </p:txBody>
      </p:sp>
      <p:sp>
        <p:nvSpPr>
          <p:cNvPr id="148" name="Google Shape;14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Follow directions in the lab script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Instead of a 2 degree field of view, use the box in the top right to go to 3°X1°, then zoom in slightly to get to 2°X1°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May need to zoom out for faster stars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The red numbers on top of the angular separation </a:t>
            </a:r>
            <a:r>
              <a:rPr lang="en">
                <a:solidFill>
                  <a:schemeClr val="dk1"/>
                </a:solidFill>
              </a:rPr>
              <a:t>measurement</a:t>
            </a:r>
            <a:r>
              <a:rPr lang="en">
                <a:solidFill>
                  <a:schemeClr val="dk1"/>
                </a:solidFill>
              </a:rPr>
              <a:t> are </a:t>
            </a:r>
            <a:endParaRPr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">
                <a:solidFill>
                  <a:schemeClr val="dk1"/>
                </a:solidFill>
              </a:rPr>
              <a:t>D</a:t>
            </a:r>
            <a:r>
              <a:rPr lang="en">
                <a:solidFill>
                  <a:schemeClr val="dk1"/>
                </a:solidFill>
              </a:rPr>
              <a:t>egrees (°), arcminutes (‘), and arcseconds (“)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Type them into the labelled yellow cells at the bottom of the spreadsheet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To the right of this will give a value in just arcseconds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This is the number you want to plug into the main spreadsheet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Get the distance from Earth based on the blue text from hovering over the star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Today </a:t>
            </a:r>
            <a:r>
              <a:rPr lang="en" sz="1578"/>
              <a:t>(</a:t>
            </a:r>
            <a:r>
              <a:rPr lang="en" sz="1578"/>
              <a:t>Exercise</a:t>
            </a:r>
            <a:r>
              <a:rPr lang="en" sz="1578"/>
              <a:t> 2: Proper Motion)</a:t>
            </a:r>
            <a:endParaRPr sz="1578"/>
          </a:p>
        </p:txBody>
      </p:sp>
      <p:sp>
        <p:nvSpPr>
          <p:cNvPr id="154" name="Google Shape;154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Will need to work in pairs, maybe groups of 3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Not all the class computers work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When you open Starry Night, </a:t>
            </a:r>
            <a:r>
              <a:rPr b="1" i="1" lang="en" u="sng">
                <a:solidFill>
                  <a:schemeClr val="dk1"/>
                </a:solidFill>
              </a:rPr>
              <a:t>do not</a:t>
            </a:r>
            <a:r>
              <a:rPr lang="en">
                <a:solidFill>
                  <a:schemeClr val="dk1"/>
                </a:solidFill>
              </a:rPr>
              <a:t> update, </a:t>
            </a:r>
            <a:r>
              <a:rPr b="1" i="1" lang="en" u="sng">
                <a:solidFill>
                  <a:schemeClr val="dk1"/>
                </a:solidFill>
              </a:rPr>
              <a:t>do not</a:t>
            </a:r>
            <a:r>
              <a:rPr lang="en">
                <a:solidFill>
                  <a:schemeClr val="dk1"/>
                </a:solidFill>
              </a:rPr>
              <a:t> register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This is </a:t>
            </a:r>
            <a:r>
              <a:rPr b="1" i="1" lang="en" u="sng">
                <a:solidFill>
                  <a:schemeClr val="dk1"/>
                </a:solidFill>
              </a:rPr>
              <a:t>old</a:t>
            </a:r>
            <a:r>
              <a:rPr lang="en">
                <a:solidFill>
                  <a:schemeClr val="dk1"/>
                </a:solidFill>
              </a:rPr>
              <a:t> software, we don’t want to break it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When you open the spreadsheet, </a:t>
            </a:r>
            <a:r>
              <a:rPr b="1" i="1" lang="en" u="sng">
                <a:solidFill>
                  <a:schemeClr val="dk1"/>
                </a:solidFill>
              </a:rPr>
              <a:t>do not</a:t>
            </a:r>
            <a:r>
              <a:rPr lang="en">
                <a:solidFill>
                  <a:schemeClr val="dk1"/>
                </a:solidFill>
              </a:rPr>
              <a:t> ask for edit access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Open in Google Sheets and make a copy or download it and open in Excel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Make sure to turn in the spreadsheet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Can be a second file or tacked onto the end of the lab script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Still needs to be a PDF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