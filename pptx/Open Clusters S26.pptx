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065d48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065d48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065d487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065d487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065d487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065d487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065d487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065d487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065d48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065d48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065d487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065d487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065d487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065d487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jp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do not use AI to complete your labs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need help, ask me - I am literally paid to help you anyway I can short of giving you the answer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You can ask me in class, via email, or come to my office hours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Tuesday the 28th and Wednesday the 29th are for make up labs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other labs need to be in by Monday the 27th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going to makeup a lab, it must be one you were absent for, and you must let me know in </a:t>
            </a:r>
            <a:r>
              <a:rPr lang="en"/>
              <a:t>advance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If nobody lets me know, </a:t>
            </a:r>
            <a:r>
              <a:rPr i="1" lang="en"/>
              <a:t>I will not be here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Clusters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Star Clusters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Open Clusters</a:t>
            </a:r>
            <a:r>
              <a:rPr lang="en" sz="1500"/>
              <a:t> (What we are doing today):</a:t>
            </a:r>
            <a:endParaRPr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100s to 1000s of stars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Located in the Galactic Disk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gas and dust too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Globular Clusters</a:t>
            </a:r>
            <a:r>
              <a:rPr lang="en" sz="1500"/>
              <a:t>:</a:t>
            </a:r>
            <a:endParaRPr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Old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Dense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10,000s to 100,000s of stars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Located in the Galactic Halo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gas or dust (all used up)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675" y="2958009"/>
            <a:ext cx="2953346" cy="2185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750" y="2958000"/>
            <a:ext cx="2171810" cy="21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6144275" y="1449900"/>
            <a:ext cx="24852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But a lot of the stuff we are doing today with Open Clusters can also be applied to Globular Clusters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Clusters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stars in a cluster formed at the </a:t>
            </a:r>
            <a:r>
              <a:rPr b="1" i="1" lang="en" u="sng"/>
              <a:t>same time</a:t>
            </a:r>
            <a:r>
              <a:rPr lang="en"/>
              <a:t> from the same cloud of dust and gas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Stars in a cluster are all the </a:t>
            </a:r>
            <a:r>
              <a:rPr b="1" i="1" lang="en" u="sng"/>
              <a:t>same age</a:t>
            </a:r>
            <a:endParaRPr b="1" i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massive stars die faster than less massive stars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Blue stars are hotter and more massive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Last a few million years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 stars are cooler and less massive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Last potentially trillions of years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Sun is in between at around 10 billion years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Biggest to smallest: O, B, A, F, G, K, M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b="1" lang="en" u="sng"/>
              <a:t>O</a:t>
            </a:r>
            <a:r>
              <a:rPr lang="en"/>
              <a:t>ne </a:t>
            </a:r>
            <a:r>
              <a:rPr b="1" lang="en" u="sng"/>
              <a:t>B</a:t>
            </a:r>
            <a:r>
              <a:rPr lang="en"/>
              <a:t>oring </a:t>
            </a:r>
            <a:r>
              <a:rPr b="1" lang="en" u="sng"/>
              <a:t>A</a:t>
            </a:r>
            <a:r>
              <a:rPr lang="en"/>
              <a:t>fternoon </a:t>
            </a:r>
            <a:r>
              <a:rPr b="1" lang="en" u="sng"/>
              <a:t>F</a:t>
            </a:r>
            <a:r>
              <a:rPr lang="en"/>
              <a:t>rank </a:t>
            </a:r>
            <a:r>
              <a:rPr b="1" lang="en" u="sng"/>
              <a:t>G</a:t>
            </a:r>
            <a:r>
              <a:rPr lang="en"/>
              <a:t>rew </a:t>
            </a:r>
            <a:r>
              <a:rPr b="1" lang="en" u="sng"/>
              <a:t>K</a:t>
            </a:r>
            <a:r>
              <a:rPr lang="en"/>
              <a:t>iller </a:t>
            </a:r>
            <a:r>
              <a:rPr b="1" lang="en" u="sng"/>
              <a:t>M</a:t>
            </a:r>
            <a:r>
              <a:rPr lang="en"/>
              <a:t>arijuana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Clusters Cont.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260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star cluster forms, we see a lot of little stars, and only a few really big stars</a:t>
            </a:r>
            <a:endParaRPr/>
          </a:p>
        </p:txBody>
      </p:sp>
      <p:pic>
        <p:nvPicPr>
          <p:cNvPr descr="A diagram of stars in different colors&#10;&#10;Description automatically generated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3850" y="863550"/>
            <a:ext cx="4750150" cy="35270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05090"/>
            <a:ext cx="4542900" cy="21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7"/>
          <p:cNvSpPr txBox="1"/>
          <p:nvPr/>
        </p:nvSpPr>
        <p:spPr>
          <a:xfrm>
            <a:off x="311700" y="2236900"/>
            <a:ext cx="408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big stars then die faster, leading to: 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850" y="863549"/>
            <a:ext cx="4750150" cy="369279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 txBox="1"/>
          <p:nvPr/>
        </p:nvSpPr>
        <p:spPr>
          <a:xfrm>
            <a:off x="4702525" y="4556350"/>
            <a:ext cx="413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↑ Important: This is Figure 4 from your lab script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Distance With the Main Sequence </a:t>
            </a:r>
            <a:r>
              <a:rPr lang="en" sz="1800"/>
              <a:t>(First, </a:t>
            </a:r>
            <a:r>
              <a:rPr lang="en" sz="1800"/>
              <a:t>A Quick Review)</a:t>
            </a:r>
            <a:endParaRPr sz="180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Fafwefwegwrwr      	      → “Distance Modulus” </a:t>
            </a:r>
            <a:r>
              <a:rPr lang="en" sz="1400"/>
              <a:t>Note that your lab uses V and Mᵥ                             f sdvsdvvasdadzdvsdv                                                                 instead of m and M</a:t>
            </a:r>
            <a:endParaRPr sz="140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1167975"/>
            <a:ext cx="2632130" cy="61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osmic distance ladder" id="95" name="Google Shape;95;p1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1839" y="1785075"/>
            <a:ext cx="6012600" cy="335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784984"/>
            <a:ext cx="3173775" cy="33585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Distance With the Main Sequence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4214700" cy="34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Overlay HR diagrams with apparent and absolute magnitude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Align the axes, then slide up and down so that the main sequences are aligned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9"/>
          <p:cNvCxnSpPr/>
          <p:nvPr/>
        </p:nvCxnSpPr>
        <p:spPr>
          <a:xfrm flipH="1">
            <a:off x="5644220" y="1017722"/>
            <a:ext cx="9300" cy="3499800"/>
          </a:xfrm>
          <a:prstGeom prst="straightConnector1">
            <a:avLst/>
          </a:prstGeom>
          <a:noFill/>
          <a:ln cap="flat" cmpd="sng" w="303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9"/>
          <p:cNvCxnSpPr/>
          <p:nvPr/>
        </p:nvCxnSpPr>
        <p:spPr>
          <a:xfrm>
            <a:off x="5662790" y="4508305"/>
            <a:ext cx="3481200" cy="0"/>
          </a:xfrm>
          <a:prstGeom prst="straightConnector1">
            <a:avLst/>
          </a:prstGeom>
          <a:noFill/>
          <a:ln cap="flat" cmpd="sng" w="303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9"/>
          <p:cNvSpPr txBox="1"/>
          <p:nvPr/>
        </p:nvSpPr>
        <p:spPr>
          <a:xfrm rot="-5400000">
            <a:off x="3803903" y="2471337"/>
            <a:ext cx="26016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Absolute Magnitude</a:t>
            </a:r>
            <a:endParaRPr b="1" sz="191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6949749" y="4533804"/>
            <a:ext cx="9075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endParaRPr b="1" sz="191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5866478" y="1110306"/>
            <a:ext cx="2999699" cy="2897851"/>
          </a:xfrm>
          <a:custGeom>
            <a:rect b="b" l="l" r="r" t="t"/>
            <a:pathLst>
              <a:path extrusionOk="0" h="145365" w="150474">
                <a:moveTo>
                  <a:pt x="0" y="0"/>
                </a:moveTo>
                <a:cubicBezTo>
                  <a:pt x="5728" y="5805"/>
                  <a:pt x="21054" y="23841"/>
                  <a:pt x="34367" y="34832"/>
                </a:cubicBezTo>
                <a:cubicBezTo>
                  <a:pt x="47681" y="45823"/>
                  <a:pt x="65484" y="54570"/>
                  <a:pt x="79881" y="65948"/>
                </a:cubicBezTo>
                <a:cubicBezTo>
                  <a:pt x="94278" y="77326"/>
                  <a:pt x="112081" y="95439"/>
                  <a:pt x="120750" y="103102"/>
                </a:cubicBezTo>
                <a:cubicBezTo>
                  <a:pt x="129419" y="110765"/>
                  <a:pt x="126943" y="104882"/>
                  <a:pt x="131897" y="111926"/>
                </a:cubicBezTo>
                <a:cubicBezTo>
                  <a:pt x="136851" y="118970"/>
                  <a:pt x="147378" y="139792"/>
                  <a:pt x="150474" y="145365"/>
                </a:cubicBezTo>
              </a:path>
            </a:pathLst>
          </a:custGeom>
          <a:noFill/>
          <a:ln cap="flat" cmpd="sng" w="303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" name="Google Shape;108;p19"/>
          <p:cNvSpPr txBox="1"/>
          <p:nvPr/>
        </p:nvSpPr>
        <p:spPr>
          <a:xfrm rot="2233490">
            <a:off x="7117557" y="2072003"/>
            <a:ext cx="1859676" cy="49093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Main Sequence</a:t>
            </a:r>
            <a:endParaRPr b="1" sz="191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 rot="-5400000">
            <a:off x="3425475" y="2987604"/>
            <a:ext cx="26016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14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Apparent Magnitude</a:t>
            </a:r>
            <a:endParaRPr b="1" sz="1914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5792415" y="1471410"/>
            <a:ext cx="2925621" cy="2823793"/>
          </a:xfrm>
          <a:custGeom>
            <a:rect b="b" l="l" r="r" t="t"/>
            <a:pathLst>
              <a:path extrusionOk="0" h="141650" w="146758">
                <a:moveTo>
                  <a:pt x="0" y="0"/>
                </a:moveTo>
                <a:cubicBezTo>
                  <a:pt x="4257" y="4644"/>
                  <a:pt x="17029" y="20126"/>
                  <a:pt x="25543" y="27866"/>
                </a:cubicBezTo>
                <a:cubicBezTo>
                  <a:pt x="34057" y="35607"/>
                  <a:pt x="42726" y="40715"/>
                  <a:pt x="51086" y="46443"/>
                </a:cubicBezTo>
                <a:cubicBezTo>
                  <a:pt x="59446" y="52171"/>
                  <a:pt x="67806" y="56118"/>
                  <a:pt x="75701" y="62233"/>
                </a:cubicBezTo>
                <a:cubicBezTo>
                  <a:pt x="83596" y="68348"/>
                  <a:pt x="90563" y="75933"/>
                  <a:pt x="98458" y="83132"/>
                </a:cubicBezTo>
                <a:cubicBezTo>
                  <a:pt x="106353" y="90331"/>
                  <a:pt x="117963" y="101090"/>
                  <a:pt x="123072" y="105425"/>
                </a:cubicBezTo>
                <a:cubicBezTo>
                  <a:pt x="128181" y="109760"/>
                  <a:pt x="125162" y="103103"/>
                  <a:pt x="129110" y="109140"/>
                </a:cubicBezTo>
                <a:cubicBezTo>
                  <a:pt x="133058" y="115178"/>
                  <a:pt x="143817" y="136232"/>
                  <a:pt x="146758" y="141650"/>
                </a:cubicBezTo>
              </a:path>
            </a:pathLst>
          </a:custGeom>
          <a:noFill/>
          <a:ln cap="flat" cmpd="sng" w="303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1" name="Google Shape;111;p19"/>
          <p:cNvCxnSpPr/>
          <p:nvPr/>
        </p:nvCxnSpPr>
        <p:spPr>
          <a:xfrm flipH="1">
            <a:off x="5644220" y="1415868"/>
            <a:ext cx="9300" cy="3499800"/>
          </a:xfrm>
          <a:prstGeom prst="straightConnector1">
            <a:avLst/>
          </a:prstGeom>
          <a:noFill/>
          <a:ln cap="flat" cmpd="sng" w="303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9"/>
          <p:cNvCxnSpPr/>
          <p:nvPr/>
        </p:nvCxnSpPr>
        <p:spPr>
          <a:xfrm>
            <a:off x="5625749" y="4915621"/>
            <a:ext cx="3481200" cy="0"/>
          </a:xfrm>
          <a:prstGeom prst="straightConnector1">
            <a:avLst/>
          </a:prstGeom>
          <a:noFill/>
          <a:ln cap="flat" cmpd="sng" w="303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" name="Google Shape;113;p19"/>
          <p:cNvSpPr txBox="1"/>
          <p:nvPr/>
        </p:nvSpPr>
        <p:spPr>
          <a:xfrm>
            <a:off x="5266575" y="2044050"/>
            <a:ext cx="615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-4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341225" y="2663325"/>
            <a:ext cx="615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24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7319525" y="2742725"/>
            <a:ext cx="285000" cy="2715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rgbClr val="0040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7319525" y="2231225"/>
            <a:ext cx="285000" cy="2715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rgbClr val="0040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9"/>
          <p:cNvCxnSpPr/>
          <p:nvPr/>
        </p:nvCxnSpPr>
        <p:spPr>
          <a:xfrm rot="10800000">
            <a:off x="7755825" y="2348625"/>
            <a:ext cx="0" cy="5835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5881875" y="2280000"/>
            <a:ext cx="0" cy="5835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9"/>
          <p:cNvSpPr txBox="1"/>
          <p:nvPr/>
        </p:nvSpPr>
        <p:spPr>
          <a:xfrm>
            <a:off x="311700" y="2571750"/>
            <a:ext cx="42147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Plug the magnitudes into the distance modulus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 = -4, m = 6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 = 10^((6 + 4 + 5)/5)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 = 1000 pc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Grab a transparency, the data, and some dry-erase markers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 stars from Table 1 on Page 7 on the transparency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Table 1 has two columns - so you will need a total of 14 stars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recommend drawing a line (not necessarily straight) through them to make it easier to see the Main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Place your transparency over the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 up the vertical axes, then move up or down so that the main sequences are on top of eachother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3 points on the main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point, subtract V-Mᵥ and write it on Table 2 (page 8)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Take the average of those 3 and use that to determine the distance (also put it on Table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find the Turn-Off Point and record it on Table 2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Compare to figure 4 in your lab script to estimate the age (also put it on Table 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have the “actual” distances on the 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Record them on Table 2 and calculate the percent difference with your ca</a:t>
            </a:r>
            <a:r>
              <a:rPr lang="en"/>
              <a:t>lculated distance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