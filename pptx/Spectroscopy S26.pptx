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f718994b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f718994b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c21d29b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c21d29b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f718994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f718994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f718994b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f718994b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718994b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f718994b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bf170109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bf17010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bf17010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bf17010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bf170109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bf170109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f170109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bf170109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bf170109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bf170109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bf170109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bf170109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bf170109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bf170109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f170109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bf170109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c21d29b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c21d29b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f718994b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f718994b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f718994b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f718994b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00FF87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FF8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9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Spectroscopy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17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First lab is graded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Check comments directly on the submission to see where/why points were marked off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General comments are for if pages are missing/out of order or if there are technical issues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Please remember to put pages in order and a </a:t>
            </a:r>
            <a:r>
              <a:rPr b="1" i="1" lang="en" u="sng">
                <a:solidFill>
                  <a:schemeClr val="dk1"/>
                </a:solidFill>
              </a:rPr>
              <a:t>single</a:t>
            </a:r>
            <a:r>
              <a:rPr lang="en">
                <a:solidFill>
                  <a:schemeClr val="dk1"/>
                </a:solidFill>
              </a:rPr>
              <a:t> file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 gave warnings this time since it was the first lab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 can show you a couple ways to make sure you have the right formatting if you come to office hours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Remember Pre-Lab (Should be done already) and Quiz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Sign in Sheet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Spectroscopy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Spectroscopy is the study of the interactions between light and matter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38173"/>
            <a:ext cx="4572000" cy="2605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83200"/>
            <a:ext cx="4572000" cy="25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71750"/>
            <a:ext cx="42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wave (kind of)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Wavelength (λ), with units of distance, is the most important for this lab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Also, frequency (f), with units of Hertz (a.k.a. per second)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 (the speed of light) = λ*f (distance per time)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Amplitude is how “tall” the wave is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24096" l="8022" r="9107" t="25819"/>
          <a:stretch/>
        </p:blipFill>
        <p:spPr>
          <a:xfrm>
            <a:off x="4531950" y="1368102"/>
            <a:ext cx="4260301" cy="257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Spectrum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Different wavelengths </a:t>
            </a:r>
            <a:r>
              <a:rPr lang="en">
                <a:solidFill>
                  <a:schemeClr val="dk1"/>
                </a:solidFill>
              </a:rPr>
              <a:t>correspond</a:t>
            </a:r>
            <a:r>
              <a:rPr lang="en">
                <a:solidFill>
                  <a:schemeClr val="dk1"/>
                </a:solidFill>
              </a:rPr>
              <a:t> to different “colors”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Energy: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 = hc/λ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 = Planck’s Constant = 6.626 x 10^-34  m^2 kg/s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 = speed of light = 3 x 10^8 m/s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Shorter wavelength (higher frequency) means more energy and is bluer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Lower energy is redder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1627" r="1501" t="0"/>
          <a:stretch/>
        </p:blipFill>
        <p:spPr>
          <a:xfrm>
            <a:off x="4487650" y="433025"/>
            <a:ext cx="4656350" cy="24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650" y="2890425"/>
            <a:ext cx="4656350" cy="1820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Spectra </a:t>
            </a:r>
            <a:r>
              <a:rPr lang="en" sz="1578"/>
              <a:t>(Plural of “Spectrum”)</a:t>
            </a:r>
            <a:endParaRPr sz="1578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Light can be separated with a prism - this is called a spectrum</a:t>
            </a:r>
            <a:endParaRPr sz="16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See: Rainbows, where water droplets act as prisms</a:t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This happens because different wavelengths refract (bounce or deflect) by different amounts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 don’t always see a full spectrum when we observe things</a:t>
            </a:r>
            <a:endParaRPr sz="16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Sometimes only a few wavelengths (“colors”) are there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Sometimes </a:t>
            </a:r>
            <a:r>
              <a:rPr lang="en" sz="1200">
                <a:solidFill>
                  <a:schemeClr val="dk1"/>
                </a:solidFill>
              </a:rPr>
              <a:t>it's</a:t>
            </a:r>
            <a:r>
              <a:rPr lang="en" sz="1200">
                <a:solidFill>
                  <a:schemeClr val="dk1"/>
                </a:solidFill>
              </a:rPr>
              <a:t> mostly there, but a few are missing</a:t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 need to look at how light interacts with matter (specifically atoms)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388" y="3295525"/>
            <a:ext cx="2773066" cy="1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2537" y="3295525"/>
            <a:ext cx="2905850" cy="1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7661825" y="3654375"/>
            <a:ext cx="8187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Sun!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7469225" y="3731425"/>
            <a:ext cx="192600" cy="192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6325" y="173375"/>
            <a:ext cx="5557675" cy="7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7755700" y="918900"/>
            <a:ext cx="138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 element you will be looking at today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/>
          <p:nvPr/>
        </p:nvSpPr>
        <p:spPr>
          <a:xfrm rot="5400000">
            <a:off x="7661825" y="939388"/>
            <a:ext cx="192600" cy="192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Aside About Atoms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nucleus made of protons and neutrons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Not too important for today’s lab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Surrounded by electrons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electrons can be separated into different “shells” or “orbits”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shell represents a single quantized energy level, increasing as you get further from the nucleus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900" y="2906673"/>
            <a:ext cx="4490100" cy="2231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7825" y="0"/>
            <a:ext cx="3126176" cy="205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11700" y="2985900"/>
            <a:ext cx="4342200" cy="21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The word “quantized” here is important - it means a specific, discrete (not a continuum) amount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Also where the word “quantum” as in quantum mechanics comes from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Electrons orbiting an atom can </a:t>
            </a:r>
            <a:r>
              <a:rPr b="1" i="1" lang="en" sz="1200" u="sng">
                <a:solidFill>
                  <a:schemeClr val="dk1"/>
                </a:solidFill>
              </a:rPr>
              <a:t>only</a:t>
            </a:r>
            <a:r>
              <a:rPr lang="en" sz="1200">
                <a:solidFill>
                  <a:schemeClr val="dk1"/>
                </a:solidFill>
              </a:rPr>
              <a:t> exist at these specific energy levels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Each shell has a maximum number of electrons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When Light Hits an Atom?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4101000" cy="3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Absorption!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But light has energy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Energy can never be created or destroyed*</a:t>
            </a:r>
            <a:endParaRPr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*(Outside nuclear reactions)**</a:t>
            </a:r>
            <a:endParaRPr sz="800">
              <a:solidFill>
                <a:schemeClr val="dk1"/>
              </a:solidFill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" sz="800">
                <a:solidFill>
                  <a:schemeClr val="dk1"/>
                </a:solidFill>
              </a:rPr>
              <a:t>**(But matter is equivalent to energy, see E = mc^2)</a:t>
            </a:r>
            <a:endParaRPr sz="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 the total energy has to be the same. Where did it go?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One of the electrons took that energy and went up to a higher energy level</a:t>
            </a:r>
            <a:endParaRPr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Sometimes, the energy is so much that the electron leaves the atom altogether - this process is called </a:t>
            </a:r>
            <a:r>
              <a:rPr b="1" lang="en" sz="1000">
                <a:solidFill>
                  <a:schemeClr val="dk1"/>
                </a:solidFill>
              </a:rPr>
              <a:t>“ionization”</a:t>
            </a:r>
            <a:r>
              <a:rPr lang="en" sz="1000">
                <a:solidFill>
                  <a:schemeClr val="dk1"/>
                </a:solidFill>
              </a:rPr>
              <a:t> and the atom is said to be </a:t>
            </a:r>
            <a:r>
              <a:rPr b="1" lang="en" sz="1000">
                <a:solidFill>
                  <a:schemeClr val="dk1"/>
                </a:solidFill>
              </a:rPr>
              <a:t>“ionized”</a:t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700" y="1633613"/>
            <a:ext cx="4419600" cy="274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Does it Stay There?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Electrons don’t like having a lot of energy, they want to be as close to the “ground state” as they can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When an electron drops back down to a lower energy level, the energy it did have still has to go somewhere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So, the atom emits light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375" y="2209800"/>
            <a:ext cx="244792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tumblr_om1i2gCSE41vjhboso3_400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9714" y="2835677"/>
            <a:ext cx="4096650" cy="23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0" y="4251575"/>
            <a:ext cx="12999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v</a:t>
            </a:r>
            <a:r>
              <a:rPr lang="en" sz="1000">
                <a:solidFill>
                  <a:schemeClr val="dk2"/>
                </a:solidFill>
              </a:rPr>
              <a:t>₀ (</a:t>
            </a:r>
            <a:r>
              <a:rPr lang="en" sz="1000">
                <a:solidFill>
                  <a:schemeClr val="dk2"/>
                </a:solidFill>
              </a:rPr>
              <a:t>pronounced</a:t>
            </a:r>
            <a:r>
              <a:rPr lang="en" sz="1000">
                <a:solidFill>
                  <a:schemeClr val="dk2"/>
                </a:solidFill>
              </a:rPr>
              <a:t> “v-nought)” is the speed divided by the wavelength, for us, that is c/𝜆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 For Us?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20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specific quantized amount of energy absorbed or emitted depends on the atomic structure of the atom - so different elements absorb and emit different </a:t>
            </a:r>
            <a:r>
              <a:rPr b="1" i="1" lang="en" u="sng">
                <a:solidFill>
                  <a:schemeClr val="dk1"/>
                </a:solidFill>
              </a:rPr>
              <a:t>specific</a:t>
            </a:r>
            <a:r>
              <a:rPr lang="en">
                <a:solidFill>
                  <a:schemeClr val="dk1"/>
                </a:solidFill>
              </a:rPr>
              <a:t> wavelengths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99" y="2147426"/>
            <a:ext cx="5327802" cy="29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311700" y="2099275"/>
            <a:ext cx="3456300" cy="25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more levels up or down the electron goes - the bigger the energy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So, by looking at what wavelengths (colors) of light are emitted or absorbed we can determine what element something is made out of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 For Us?</a:t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34" y="1017725"/>
            <a:ext cx="823372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Examples </a:t>
            </a:r>
            <a:r>
              <a:rPr lang="en" sz="1578"/>
              <a:t>(Outside Astronomy)</a:t>
            </a:r>
            <a:endParaRPr sz="1578"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Phosphorescence and Fluorescence are two processes where the absorbed and emitted wavelengths are different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Because of weird quantum mechanics stuff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Phosphorescence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Slow (minutes or hours)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sed on glow in the dark stuff - toys, watch faces, etc.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Fluorescence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Fast (nanoseconds)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for lighting, forensics, road signs, industrial QC, and medicine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Some animals even glow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Regular Spectroscopy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for finding toxins in food or blood samples, </a:t>
            </a:r>
            <a:r>
              <a:rPr lang="en">
                <a:solidFill>
                  <a:schemeClr val="dk1"/>
                </a:solidFill>
              </a:rPr>
              <a:t>determining</a:t>
            </a:r>
            <a:r>
              <a:rPr lang="en">
                <a:solidFill>
                  <a:schemeClr val="dk1"/>
                </a:solidFill>
              </a:rPr>
              <a:t> the amount of dissolved oxygen in water, and more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Similar Techniques (other types of waves i.e. sound)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Useful in linguistics, geology, music, structural engineering, etc.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626" y="1548376"/>
            <a:ext cx="2197375" cy="21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275" y="1548375"/>
            <a:ext cx="1748350" cy="97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6625" y="0"/>
            <a:ext cx="2197375" cy="123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Examples </a:t>
            </a:r>
            <a:r>
              <a:rPr lang="en" sz="1578"/>
              <a:t>(In Astronomy)</a:t>
            </a:r>
            <a:endParaRPr sz="1578"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15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Exoplanets (radial velocity and atmospheric spectroscopy) (learn about in AST 111)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Star temperatures (and therefore mass and age - H-R Diagram) (learn about today and later this semester)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Composition of gas clouds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From the above two: Galaxy age and evolution (my research)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</a:t>
            </a:r>
            <a:r>
              <a:rPr lang="en" sz="1500">
                <a:solidFill>
                  <a:schemeClr val="dk1"/>
                </a:solidFill>
              </a:rPr>
              <a:t>alaxy movement (later this semester)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596" y="2636695"/>
            <a:ext cx="3342404" cy="2506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" y="2636695"/>
            <a:ext cx="3342406" cy="250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2413" y="2636691"/>
            <a:ext cx="2459172" cy="250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Pokeball Galaxy 090 and 44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1000" y="-3900"/>
            <a:ext cx="3883026" cy="124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425" y="0"/>
            <a:ext cx="70191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You will be using the spectroscopes to identify 6 elements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you can’t see anything through them, let me know - it likely just needs to be recalibrated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You will also be using them to look at a </a:t>
            </a:r>
            <a:r>
              <a:rPr lang="en">
                <a:solidFill>
                  <a:schemeClr val="dk1"/>
                </a:solidFill>
              </a:rPr>
              <a:t>fluorescent</a:t>
            </a:r>
            <a:r>
              <a:rPr lang="en">
                <a:solidFill>
                  <a:schemeClr val="dk1"/>
                </a:solidFill>
              </a:rPr>
              <a:t> light (the ceiling lights) and an incandescent light (in the corner)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don’t have enough stations for everyone at once, so take turns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need to go in order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 9 is one that most people struggle with every semester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Ask for help if you need 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 12 doesn’t actually have much work to show since you can just plug it into a calculator…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But make sure to include </a:t>
            </a:r>
            <a:r>
              <a:rPr b="1" i="1" lang="en" u="sng">
                <a:solidFill>
                  <a:schemeClr val="dk1"/>
                </a:solidFill>
              </a:rPr>
              <a:t>UNITS</a:t>
            </a:r>
            <a:endParaRPr b="1" i="1"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Questions 18 through 24 are extra credit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Worth quite a bit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Remember to do the quiz - due at the same time as the lab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Next week’s lab is Parallax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Scattering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ight can be deflected off an atom and be scattered into the environment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Sometimes this involves splitting up the light into a bunch of different wavelengths, and sometimes it involves reflecting all the light at a specific angle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is not important to your lab today, but it is why the sky is blue, and why you can use mirrors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It’s also why stealth aircraft often have weird shapes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